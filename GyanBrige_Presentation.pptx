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400">
                <a:solidFill>
                  <a:srgbClr val="FFFFFF"/>
                </a:solidFill>
              </a:rPr>
              <a:t>Precision / Recall / F1-Score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Precision</c:v>
                </c:pt>
              </c:strCache>
            </c:strRef>
          </c:tx>
          <c:spPr>
            <a:solidFill>
              <a:srgbClr val="00B4D8"/>
            </a:solidFill>
          </c:spPr>
          <c:cat>
            <c:strRef>
              <c:f>Sheet1!$A$2:$A$4</c:f>
              <c:strCache>
                <c:ptCount val="3"/>
                <c:pt idx="0">
                  <c:v>LBPH</c:v>
                </c:pt>
                <c:pt idx="1">
                  <c:v>Eigenfaces</c:v>
                </c:pt>
                <c:pt idx="2">
                  <c:v>Fisherfaces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0.893</c:v>
                </c:pt>
                <c:pt idx="1">
                  <c:v>0.762</c:v>
                </c:pt>
                <c:pt idx="2">
                  <c:v>0.847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Recall</c:v>
                </c:pt>
              </c:strCache>
            </c:strRef>
          </c:tx>
          <c:spPr>
            <a:solidFill>
              <a:srgbClr val="06D6A0"/>
            </a:solidFill>
          </c:spPr>
          <c:cat>
            <c:strRef>
              <c:f>Sheet1!$A$2:$A$4</c:f>
              <c:strCache>
                <c:ptCount val="3"/>
                <c:pt idx="0">
                  <c:v>LBPH</c:v>
                </c:pt>
                <c:pt idx="1">
                  <c:v>Eigenfaces</c:v>
                </c:pt>
                <c:pt idx="2">
                  <c:v>Fisherfaces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0.871</c:v>
                </c:pt>
                <c:pt idx="1">
                  <c:v>0.731</c:v>
                </c:pt>
                <c:pt idx="2">
                  <c:v>0.819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F1-Score</c:v>
                </c:pt>
              </c:strCache>
            </c:strRef>
          </c:tx>
          <c:spPr>
            <a:solidFill>
              <a:srgbClr val="FFC300"/>
            </a:solidFill>
          </c:spPr>
          <c:cat>
            <c:strRef>
              <c:f>Sheet1!$A$2:$A$4</c:f>
              <c:strCache>
                <c:ptCount val="3"/>
                <c:pt idx="0">
                  <c:v>LBPH</c:v>
                </c:pt>
                <c:pt idx="1">
                  <c:v>Eigenfaces</c:v>
                </c:pt>
                <c:pt idx="2">
                  <c:v>Fisherfaces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0.882</c:v>
                </c:pt>
                <c:pt idx="1">
                  <c:v>0.746</c:v>
                </c:pt>
                <c:pt idx="2">
                  <c:v>0.833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tr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64592" y="0"/>
            <a:ext cx="12024360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812280"/>
            <a:ext cx="12188952" cy="45720"/>
          </a:xfrm>
          <a:prstGeom prst="rect">
            <a:avLst/>
          </a:prstGeom>
          <a:solidFill>
            <a:srgbClr val="90E0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228600"/>
            <a:ext cx="10360152" cy="777240"/>
          </a:xfrm>
          <a:prstGeom prst="rect">
            <a:avLst/>
          </a:prstGeom>
          <a:solidFill>
            <a:srgbClr val="07334A"/>
          </a:solidFill>
          <a:ln w="1524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74320"/>
            <a:ext cx="103601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90E0EF"/>
                </a:solidFill>
              </a:rPr>
              <a:t>Department of Computer Engineering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621792"/>
            <a:ext cx="103601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A8D8EA"/>
                </a:solidFill>
              </a:rPr>
              <a:t>Academic Year 2024–25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234440"/>
            <a:ext cx="1036015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200" b="1" i="0">
                <a:solidFill>
                  <a:srgbClr val="00B4D8"/>
                </a:solidFill>
              </a:rPr>
              <a:t>GyanBrige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286000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FFFFFF"/>
                </a:solidFill>
              </a:rPr>
              <a:t>AI-Powered Smart Education Platform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0" y="2926080"/>
            <a:ext cx="5788152" cy="54864"/>
          </a:xfrm>
          <a:prstGeom prst="rect">
            <a:avLst/>
          </a:prstGeom>
          <a:solidFill>
            <a:srgbClr val="FFC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063240"/>
            <a:ext cx="103601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CCDDEE"/>
                </a:solidFill>
              </a:rPr>
              <a:t>Bridging Classrooms with Artificial Intelligence – Attendance, Transcription &amp; Smart Learning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71600" y="3749039"/>
            <a:ext cx="9445752" cy="1371600"/>
          </a:xfrm>
          <a:prstGeom prst="rect">
            <a:avLst/>
          </a:prstGeom>
          <a:solidFill>
            <a:srgbClr val="07334A"/>
          </a:solidFill>
          <a:ln w="1524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71600" y="3822191"/>
            <a:ext cx="94457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C300"/>
                </a:solidFill>
              </a:rPr>
              <a:t>Project Guide:  Prof. [Guide Name]   |   Submitted By: Ishan Kulkarni &amp; Team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4206240"/>
            <a:ext cx="94457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0E0EF"/>
                </a:solidFill>
              </a:rPr>
              <a:t>Technology Stack: Next.js 16  ·  React Native (Expo)  ·  Node.js  ·  OpenAI Whisper  ·  GPT-4  ·  OpenCV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4553712"/>
            <a:ext cx="94457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CDDEE"/>
                </a:solidFill>
              </a:rPr>
              <a:t>Face Recognition: LBPH  ·  Eigen Faces  ·  Fisher Faces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73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88952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09728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90E0EF"/>
                </a:solidFill>
              </a:rPr>
              <a:t>Introduction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65836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A8D8EA"/>
                </a:solidFill>
              </a:rPr>
              <a:t>Overview of GyanBrige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188720"/>
            <a:ext cx="5394960" cy="2286000"/>
          </a:xfrm>
          <a:prstGeom prst="rect">
            <a:avLst/>
          </a:prstGeom>
          <a:solidFill>
            <a:srgbClr val="07334A"/>
          </a:solidFill>
          <a:ln w="1524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0352" y="1298448"/>
            <a:ext cx="5065776" cy="2066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EF476F"/>
                </a:solidFill>
              </a:rPr>
              <a:t>The Problem</a:t>
            </a:r>
          </a:p>
          <a:p>
            <a:pPr algn="l"/>
            <a:r>
              <a:rPr sz="1400">
                <a:solidFill>
                  <a:srgbClr val="FFFFFF"/>
                </a:solidFill>
              </a:rPr>
              <a:t>• Traditional classrooms lack automated AI tools for learning</a:t>
            </a:r>
          </a:p>
          <a:p>
            <a:pPr algn="l"/>
            <a:r>
              <a:rPr sz="1400">
                <a:solidFill>
                  <a:srgbClr val="FFFFFF"/>
                </a:solidFill>
              </a:rPr>
              <a:t>• Teachers spend excessive time on attendance &amp; content creation</a:t>
            </a:r>
          </a:p>
          <a:p>
            <a:pPr algn="l"/>
            <a:r>
              <a:rPr sz="1400">
                <a:solidFill>
                  <a:srgbClr val="FFFFFF"/>
                </a:solidFill>
              </a:rPr>
              <a:t>• Students miss key insights from lectures</a:t>
            </a:r>
          </a:p>
          <a:p>
            <a:pPr algn="l"/>
            <a:r>
              <a:rPr sz="1400">
                <a:solidFill>
                  <a:srgbClr val="FFFFFF"/>
                </a:solidFill>
              </a:rPr>
              <a:t>• Existing systems are fragmented – no unified solution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3657600"/>
            <a:ext cx="5394960" cy="2514600"/>
          </a:xfrm>
          <a:prstGeom prst="rect">
            <a:avLst/>
          </a:prstGeom>
          <a:solidFill>
            <a:srgbClr val="07334A"/>
          </a:solidFill>
          <a:ln w="1524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0352" y="3767328"/>
            <a:ext cx="5065776" cy="2295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06D6A0"/>
                </a:solidFill>
              </a:rPr>
              <a:t>Our Solution</a:t>
            </a:r>
          </a:p>
          <a:p>
            <a:pPr algn="l"/>
            <a:r>
              <a:rPr sz="1400">
                <a:solidFill>
                  <a:srgbClr val="FFFFFF"/>
                </a:solidFill>
              </a:rPr>
              <a:t>• GyanBrige = 'Knowledge Bridge' (Hindi: ज्ञान सेतु)</a:t>
            </a:r>
          </a:p>
          <a:p>
            <a:pPr algn="l"/>
            <a:r>
              <a:rPr sz="1400">
                <a:solidFill>
                  <a:srgbClr val="FFFFFF"/>
                </a:solidFill>
              </a:rPr>
              <a:t>• Unified platform for Admin, Teachers &amp; Students</a:t>
            </a:r>
          </a:p>
          <a:p>
            <a:pPr algn="l"/>
            <a:r>
              <a:rPr sz="1400">
                <a:solidFill>
                  <a:srgbClr val="FFFFFF"/>
                </a:solidFill>
              </a:rPr>
              <a:t>• Automates attendance, transcription &amp; note generation</a:t>
            </a:r>
          </a:p>
          <a:p>
            <a:pPr algn="l"/>
            <a:r>
              <a:rPr sz="1400">
                <a:solidFill>
                  <a:srgbClr val="FFFFFF"/>
                </a:solidFill>
              </a:rPr>
              <a:t>• Supports English, Hindi &amp; Marathi languages</a:t>
            </a:r>
          </a:p>
          <a:p>
            <a:pPr algn="l"/>
            <a:r>
              <a:rPr sz="1400">
                <a:solidFill>
                  <a:srgbClr val="FFFFFF"/>
                </a:solidFill>
              </a:rPr>
              <a:t>• Works on Web (Next.js) and Mobile (React Native)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1188720"/>
            <a:ext cx="2606040" cy="2103120"/>
          </a:xfrm>
          <a:prstGeom prst="rect">
            <a:avLst/>
          </a:prstGeom>
          <a:solidFill>
            <a:srgbClr val="07334A"/>
          </a:solidFill>
          <a:ln w="1524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325880"/>
            <a:ext cx="26060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00B4D8"/>
                </a:solidFill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331720"/>
            <a:ext cx="26060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User Roles
(Admin, Teacher, Student)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0" y="3611880"/>
            <a:ext cx="2606040" cy="2103120"/>
          </a:xfrm>
          <a:prstGeom prst="rect">
            <a:avLst/>
          </a:prstGeom>
          <a:solidFill>
            <a:srgbClr val="07334A"/>
          </a:solidFill>
          <a:ln w="1524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3749040"/>
            <a:ext cx="26060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00B4D8"/>
                </a:solidFill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4754880"/>
            <a:ext cx="26060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AI Backends
(OpenAI, Ollama, Local)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235440" y="1188720"/>
            <a:ext cx="2606040" cy="2103120"/>
          </a:xfrm>
          <a:prstGeom prst="rect">
            <a:avLst/>
          </a:prstGeom>
          <a:solidFill>
            <a:srgbClr val="07334A"/>
          </a:solidFill>
          <a:ln w="1524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35440" y="1325880"/>
            <a:ext cx="26060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00B4D8"/>
                </a:solidFill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35440" y="2331720"/>
            <a:ext cx="26060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Languages
(English, Hindi, Marathi)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235440" y="3611880"/>
            <a:ext cx="2606040" cy="2103120"/>
          </a:xfrm>
          <a:prstGeom prst="rect">
            <a:avLst/>
          </a:prstGeom>
          <a:solidFill>
            <a:srgbClr val="07334A"/>
          </a:solidFill>
          <a:ln w="1524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35440" y="3749040"/>
            <a:ext cx="26060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00B4D8"/>
                </a:solidFill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35440" y="4754880"/>
            <a:ext cx="26060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Face Recognition
Algorithms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73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4320" y="6510528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8D8EA"/>
                </a:solidFill>
              </a:rPr>
              <a:t>GyanBrige – AI-Powered Smart Education Platform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73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88952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09728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90E0EF"/>
                </a:solidFill>
              </a:rPr>
              <a:t>Literature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65836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A8D8EA"/>
                </a:solidFill>
              </a:rPr>
              <a:t>Survey of Related Work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188720"/>
            <a:ext cx="5715000" cy="1627632"/>
          </a:xfrm>
          <a:prstGeom prst="rect">
            <a:avLst/>
          </a:prstGeom>
          <a:solidFill>
            <a:srgbClr val="07334A"/>
          </a:solidFill>
          <a:ln w="1524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28016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C300"/>
                </a:solidFill>
              </a:rPr>
              <a:t>Turk &amp; Pentland (1991)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600200"/>
            <a:ext cx="5440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EE"/>
                </a:solidFill>
              </a:rPr>
              <a:t>Eigenfaces for Recognition – introduced PCA-based face recognition (Eigenfaces). Achieved ~96% accuracy in controlled settings but struggled with lighting variations.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2971800"/>
            <a:ext cx="5715000" cy="1627632"/>
          </a:xfrm>
          <a:prstGeom prst="rect">
            <a:avLst/>
          </a:prstGeom>
          <a:solidFill>
            <a:srgbClr val="07334A"/>
          </a:solidFill>
          <a:ln w="1524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30632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C300"/>
                </a:solidFill>
              </a:rPr>
              <a:t>Belhumeur et al. (1997)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383280"/>
            <a:ext cx="5440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EE"/>
                </a:solidFill>
              </a:rPr>
              <a:t>Eigenfaces vs. Fisherfaces – proposed LDA-based Fisherfaces. Outperformed Eigenfaces under varying illumination conditions, achieving 97.5% recognition rate.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4754880"/>
            <a:ext cx="5715000" cy="1627632"/>
          </a:xfrm>
          <a:prstGeom prst="rect">
            <a:avLst/>
          </a:prstGeom>
          <a:solidFill>
            <a:srgbClr val="07334A"/>
          </a:solidFill>
          <a:ln w="1524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48463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C300"/>
                </a:solidFill>
              </a:rPr>
              <a:t>Ahonen et al. (2006)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5166360"/>
            <a:ext cx="5440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EE"/>
                </a:solidFill>
              </a:rPr>
              <a:t>Face Description with LBPH – proposed Local Binary Patterns Histograms for face recognition. Robust to monotonic grayscale changes and partial occlusion.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09359" y="1188720"/>
            <a:ext cx="5715000" cy="1627632"/>
          </a:xfrm>
          <a:prstGeom prst="rect">
            <a:avLst/>
          </a:prstGeom>
          <a:solidFill>
            <a:srgbClr val="07334A"/>
          </a:solidFill>
          <a:ln w="1524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46520" y="128016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C300"/>
                </a:solidFill>
              </a:rPr>
              <a:t>Radford et al. (2022) – OpenAI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1600200"/>
            <a:ext cx="5440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EE"/>
                </a:solidFill>
              </a:rPr>
              <a:t>Whisper: Robust Speech Recognition – large-scale multilingual model trained on 680K hours of audio. Supports 99+ languages including Indian languages.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09359" y="2971800"/>
            <a:ext cx="5715000" cy="1627632"/>
          </a:xfrm>
          <a:prstGeom prst="rect">
            <a:avLst/>
          </a:prstGeom>
          <a:solidFill>
            <a:srgbClr val="07334A"/>
          </a:solidFill>
          <a:ln w="1524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6520" y="30632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C300"/>
                </a:solidFill>
              </a:rPr>
              <a:t>Brown et al. (2020) – OpenAI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3383280"/>
            <a:ext cx="5440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EE"/>
                </a:solidFill>
              </a:rPr>
              <a:t>GPT-3/4 Language Models – few-shot learners capable of summarizing, structuring &amp; generating educational content from raw lecture transcripts.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09359" y="4754880"/>
            <a:ext cx="5715000" cy="1627632"/>
          </a:xfrm>
          <a:prstGeom prst="rect">
            <a:avLst/>
          </a:prstGeom>
          <a:solidFill>
            <a:srgbClr val="07334A"/>
          </a:solidFill>
          <a:ln w="1524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46520" y="48463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C300"/>
                </a:solidFill>
              </a:rPr>
              <a:t>NPTEL / Google Classroom Studies (2019–23)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6520" y="5166360"/>
            <a:ext cx="5440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EE"/>
                </a:solidFill>
              </a:rPr>
              <a:t>Existing e-learning platforms lack real-time transcription, automated note generation &amp; face-based attendance in a single unified system.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73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74320" y="6510528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8D8EA"/>
                </a:solidFill>
              </a:rPr>
              <a:t>GyanBrige – AI-Powered Smart Education Platform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73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88952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09728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90E0EF"/>
                </a:solidFill>
              </a:rPr>
              <a:t>Limitations of Existing Systems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65836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A8D8EA"/>
                </a:solidFill>
              </a:rPr>
              <a:t>Gaps in Current Educational Technology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234440"/>
            <a:ext cx="5669280" cy="2377440"/>
          </a:xfrm>
          <a:prstGeom prst="rect">
            <a:avLst/>
          </a:prstGeom>
          <a:solidFill>
            <a:srgbClr val="07334A"/>
          </a:solidFill>
          <a:ln w="15240">
            <a:solidFill>
              <a:srgbClr val="EF47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32588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</a:rPr>
              <a:t>Google Classroom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691640"/>
            <a:ext cx="5669280" cy="36576"/>
          </a:xfrm>
          <a:prstGeom prst="rect">
            <a:avLst/>
          </a:prstGeom>
          <a:solidFill>
            <a:srgbClr val="EF4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78308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DEE"/>
                </a:solidFill>
              </a:rPr>
              <a:t>✗ No automatic attendance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203704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DEE"/>
                </a:solidFill>
              </a:rPr>
              <a:t>✗ No lecture transcription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624328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DEE"/>
                </a:solidFill>
              </a:rPr>
              <a:t>✗ No AI note generation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3044952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DEE"/>
                </a:solidFill>
              </a:rPr>
              <a:t>✗ No face recognition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63640" y="1234440"/>
            <a:ext cx="5669280" cy="2377440"/>
          </a:xfrm>
          <a:prstGeom prst="rect">
            <a:avLst/>
          </a:prstGeom>
          <a:solidFill>
            <a:srgbClr val="07334A"/>
          </a:solidFill>
          <a:ln w="15240">
            <a:solidFill>
              <a:srgbClr val="EF47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132588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</a:rPr>
              <a:t>NPTEL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63640" y="1691640"/>
            <a:ext cx="5669280" cy="36576"/>
          </a:xfrm>
          <a:prstGeom prst="rect">
            <a:avLst/>
          </a:prstGeom>
          <a:solidFill>
            <a:srgbClr val="EF4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46520" y="178308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DEE"/>
                </a:solidFill>
              </a:rPr>
              <a:t>✗ Pre-recorded only – no live AI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2203704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DEE"/>
                </a:solidFill>
              </a:rPr>
              <a:t>✗ No attendance tracking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2624328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DEE"/>
                </a:solidFill>
              </a:rPr>
              <a:t>✗ No multilingual transcription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3044952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DEE"/>
                </a:solidFill>
              </a:rPr>
              <a:t>✗ No mobile-first approach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3840480"/>
            <a:ext cx="5669280" cy="2377440"/>
          </a:xfrm>
          <a:prstGeom prst="rect">
            <a:avLst/>
          </a:prstGeom>
          <a:solidFill>
            <a:srgbClr val="07334A"/>
          </a:solidFill>
          <a:ln w="15240">
            <a:solidFill>
              <a:srgbClr val="EF47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393192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</a:rPr>
              <a:t>Zoom / Teams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4297680"/>
            <a:ext cx="5669280" cy="36576"/>
          </a:xfrm>
          <a:prstGeom prst="rect">
            <a:avLst/>
          </a:prstGeom>
          <a:solidFill>
            <a:srgbClr val="EF4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438912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DEE"/>
                </a:solidFill>
              </a:rPr>
              <a:t>✗ No automated note generation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4809744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DEE"/>
                </a:solidFill>
              </a:rPr>
              <a:t>✗ Transcription limited to English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5230368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DEE"/>
                </a:solidFill>
              </a:rPr>
              <a:t>✗ No student attendance marking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5650992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DEE"/>
                </a:solidFill>
              </a:rPr>
              <a:t>✗ No offline AI support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63640" y="3840480"/>
            <a:ext cx="5669280" cy="2377440"/>
          </a:xfrm>
          <a:prstGeom prst="rect">
            <a:avLst/>
          </a:prstGeom>
          <a:solidFill>
            <a:srgbClr val="07334A"/>
          </a:solidFill>
          <a:ln w="15240">
            <a:solidFill>
              <a:srgbClr val="EF47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46520" y="393192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</a:rPr>
              <a:t>OpenCV Standalone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63640" y="4297680"/>
            <a:ext cx="5669280" cy="36576"/>
          </a:xfrm>
          <a:prstGeom prst="rect">
            <a:avLst/>
          </a:prstGeom>
          <a:solidFill>
            <a:srgbClr val="EF4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46520" y="438912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DEE"/>
                </a:solidFill>
              </a:rPr>
              <a:t>✗ Face recognition only – no LMS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46520" y="4809744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DEE"/>
                </a:solidFill>
              </a:rPr>
              <a:t>✗ No integration with academics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46520" y="5230368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DEE"/>
                </a:solidFill>
              </a:rPr>
              <a:t>✗ No multilingual support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46520" y="5650992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DEE"/>
                </a:solidFill>
              </a:rPr>
              <a:t>✗ High hardware dependency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73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74320" y="6510528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8D8EA"/>
                </a:solidFill>
              </a:rPr>
              <a:t>GyanBrige – AI-Powered Smart Education Platform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73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88952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09728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90E0EF"/>
                </a:solidFill>
              </a:rPr>
              <a:t>Problem Statement &amp; Objectives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188720"/>
            <a:ext cx="11548872" cy="1234440"/>
          </a:xfrm>
          <a:prstGeom prst="rect">
            <a:avLst/>
          </a:prstGeom>
          <a:solidFill>
            <a:srgbClr val="07334A"/>
          </a:solidFill>
          <a:ln w="15240">
            <a:solidFill>
              <a:srgbClr val="FFC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261872"/>
            <a:ext cx="1118311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FFFFFF"/>
                </a:solidFill>
              </a:rPr>
              <a:t>"Educational institutions lack a unified, AI-powered platform that automates student attendance using face recognition and network scanning, transcribes multilingual lectures in real-time, generates structured study notes, and provides a seamless learning experience across web and mobile platforms."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257860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</a:rPr>
              <a:t>Project Objectives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2907792"/>
            <a:ext cx="347472" cy="34747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2926080"/>
            <a:ext cx="3474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1B2A"/>
                </a:solidFill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2907792"/>
            <a:ext cx="1084478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O1. Implement face recognition attendance using LBPH, Eigenfaces &amp; Fisherfaces algorithms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3401568"/>
            <a:ext cx="347472" cy="34747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" y="3419856"/>
            <a:ext cx="3474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1B2A"/>
                </a:solidFill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3401568"/>
            <a:ext cx="1084478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O2. Develop network-based attendance via MAC address scanning (ARP table)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3895344"/>
            <a:ext cx="347472" cy="34747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0040" y="3913631"/>
            <a:ext cx="3474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1B2A"/>
                </a:solidFill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8" y="3895344"/>
            <a:ext cx="1084478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O3. Build real-time multilingual lecture transcription (English, Hindi, Marathi)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4389120"/>
            <a:ext cx="347472" cy="34747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0040" y="4407408"/>
            <a:ext cx="3474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1B2A"/>
                </a:solidFill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8" y="4389120"/>
            <a:ext cx="1084478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O4. Auto-generate structured lecture notes using GPT-4 / Ollama LLMs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4882896"/>
            <a:ext cx="347472" cy="34747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0040" y="4901183"/>
            <a:ext cx="3474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1B2A"/>
                </a:solidFill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8" y="4882896"/>
            <a:ext cx="1084478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O5. Create a unified web + mobile platform with role-based access control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5376672"/>
            <a:ext cx="347472" cy="34747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20040" y="5394960"/>
            <a:ext cx="3474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1B2A"/>
                </a:solidFill>
              </a:rP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8" y="5376672"/>
            <a:ext cx="1084478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O6. Compare performance of face recognition algorithms (Precision, Recall, F1-Score)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73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74320" y="6510528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8D8EA"/>
                </a:solidFill>
              </a:rPr>
              <a:t>GyanBrige – AI-Powered Smart Education Platform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73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88952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09728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90E0EF"/>
                </a:solidFill>
              </a:rPr>
              <a:t>System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65836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A8D8EA"/>
                </a:solidFill>
              </a:rPr>
              <a:t>Proposed Framework Overview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188720"/>
            <a:ext cx="1417320" cy="9144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1353312"/>
            <a:ext cx="1417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D1B2A"/>
                </a:solidFill>
              </a:rPr>
              <a:t>Presentation Layer</a:t>
            </a:r>
          </a:p>
        </p:txBody>
      </p:sp>
      <p:sp>
        <p:nvSpPr>
          <p:cNvPr id="9" name="Rectangle 8"/>
          <p:cNvSpPr/>
          <p:nvPr/>
        </p:nvSpPr>
        <p:spPr>
          <a:xfrm>
            <a:off x="1737360" y="1188720"/>
            <a:ext cx="9217152" cy="914400"/>
          </a:xfrm>
          <a:prstGeom prst="rect">
            <a:avLst/>
          </a:prstGeom>
          <a:solidFill>
            <a:srgbClr val="07334A"/>
          </a:solidFill>
          <a:ln w="1524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74519" y="1417320"/>
            <a:ext cx="894283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Next.js 16 Web App  |  React Native Expo Mobile App  |  Role-Based Dashboards (Admin / Teacher / Student)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103120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0B4D8"/>
                </a:solidFill>
              </a:rPr>
              <a:t>▼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2249424"/>
            <a:ext cx="1417320" cy="91440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" y="2414016"/>
            <a:ext cx="1417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D1B2A"/>
                </a:solidFill>
              </a:rPr>
              <a:t>API Gateway Layer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737360" y="2249424"/>
            <a:ext cx="9217152" cy="914400"/>
          </a:xfrm>
          <a:prstGeom prst="rect">
            <a:avLst/>
          </a:prstGeom>
          <a:solidFill>
            <a:srgbClr val="07334A"/>
          </a:solidFill>
          <a:ln w="1524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874519" y="2478024"/>
            <a:ext cx="894283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Next.js API Routes  |  Express.js REST API  |  JWT Auth Middleware  |  CORS &amp; Rate Limiting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3163824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0B4D8"/>
                </a:solidFill>
              </a:rPr>
              <a:t>▼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3310128"/>
            <a:ext cx="1417320" cy="914400"/>
          </a:xfrm>
          <a:prstGeom prst="rect">
            <a:avLst/>
          </a:prstGeom>
          <a:solidFill>
            <a:srgbClr val="FFC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0040" y="3474720"/>
            <a:ext cx="1417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D1B2A"/>
                </a:solidFill>
              </a:rPr>
              <a:t>Business Logic Layer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737360" y="3310128"/>
            <a:ext cx="9217152" cy="914400"/>
          </a:xfrm>
          <a:prstGeom prst="rect">
            <a:avLst/>
          </a:prstGeom>
          <a:solidFill>
            <a:srgbClr val="07334A"/>
          </a:solidFill>
          <a:ln w="15240">
            <a:solidFill>
              <a:srgbClr val="FFC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874519" y="3538728"/>
            <a:ext cx="894283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Attendance Engine (Face Recog + Network Scan)  |  Transcription Service  |  Note Generation Service  |  User &amp; Course Manager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4224528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0B4D8"/>
                </a:solidFill>
              </a:rPr>
              <a:t>▼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4370831"/>
            <a:ext cx="1417320" cy="914400"/>
          </a:xfrm>
          <a:prstGeom prst="rect">
            <a:avLst/>
          </a:prstGeom>
          <a:solidFill>
            <a:srgbClr val="B58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20040" y="4535423"/>
            <a:ext cx="1417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D1B2A"/>
                </a:solidFill>
              </a:rPr>
              <a:t>AI / ML Layer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737360" y="4370831"/>
            <a:ext cx="9217152" cy="914400"/>
          </a:xfrm>
          <a:prstGeom prst="rect">
            <a:avLst/>
          </a:prstGeom>
          <a:solidFill>
            <a:srgbClr val="07334A"/>
          </a:solidFill>
          <a:ln w="15240">
            <a:solidFill>
              <a:srgbClr val="B58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874519" y="4599431"/>
            <a:ext cx="894283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OpenCV (LBPH / Eigenfaces / Fisherfaces)  |  Whisper (OpenAI / Local)  |  GPT-4o / Ollama LLaMA3  |  OUI Vendor Lookup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5285231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0B4D8"/>
                </a:solidFill>
              </a:rPr>
              <a:t>▼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0040" y="5431536"/>
            <a:ext cx="1417320" cy="914400"/>
          </a:xfrm>
          <a:prstGeom prst="rect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20040" y="5596127"/>
            <a:ext cx="1417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D1B2A"/>
                </a:solidFill>
              </a:rPr>
              <a:t>Data Layer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737360" y="5431536"/>
            <a:ext cx="9217152" cy="914400"/>
          </a:xfrm>
          <a:prstGeom prst="rect">
            <a:avLst/>
          </a:prstGeom>
          <a:solidFill>
            <a:srgbClr val="07334A"/>
          </a:solidFill>
          <a:ln w="15240">
            <a:solidFill>
              <a:srgbClr val="FF9F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874519" y="5660136"/>
            <a:ext cx="894283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JSON File Store  |  SQLite (Mobile)  |  File System (Audio / Video Uploads)  |  In-Memory Job Queue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73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74320" y="6510528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8D8EA"/>
                </a:solidFill>
              </a:rPr>
              <a:t>GyanBrige – AI-Powered Smart Education Platform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73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88952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09728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90E0EF"/>
                </a:solidFill>
              </a:rPr>
              <a:t>Implemented Modules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188720"/>
            <a:ext cx="3749039" cy="4572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252728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D1B2A"/>
                </a:solidFill>
              </a:rPr>
              <a:t>Authentication Module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645920"/>
            <a:ext cx="3749039" cy="2103120"/>
          </a:xfrm>
          <a:prstGeom prst="rect">
            <a:avLst/>
          </a:prstGeom>
          <a:solidFill>
            <a:srgbClr val="07334A"/>
          </a:solidFill>
          <a:ln w="1524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755648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• JWT-based login / signup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395728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• Role-based access (Admin / Teacher / Student)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035808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• Secure session with AsyncStorage (mobile)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7679" y="1188720"/>
            <a:ext cx="3749039" cy="45720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34840" y="1252728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D1B2A"/>
                </a:solidFill>
              </a:rPr>
              <a:t>Face Recognition Attendance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97679" y="1645920"/>
            <a:ext cx="3749039" cy="2103120"/>
          </a:xfrm>
          <a:prstGeom prst="rect">
            <a:avLst/>
          </a:prstGeom>
          <a:solidFill>
            <a:srgbClr val="07334A"/>
          </a:solidFill>
          <a:ln w="1524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34840" y="1755648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• LBPH, Eigenfaces, Fisherfaces via OpenCV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4840" y="2395728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• Live camera capture &amp; model inference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34840" y="3035808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• Confidence score-based match/reject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75319" y="1188720"/>
            <a:ext cx="3749039" cy="457200"/>
          </a:xfrm>
          <a:prstGeom prst="rect">
            <a:avLst/>
          </a:prstGeom>
          <a:solidFill>
            <a:srgbClr val="FFC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80" y="1252728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D1B2A"/>
                </a:solidFill>
              </a:rPr>
              <a:t>Network Scan Attendance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75319" y="1645920"/>
            <a:ext cx="3749039" cy="2103120"/>
          </a:xfrm>
          <a:prstGeom prst="rect">
            <a:avLst/>
          </a:prstGeom>
          <a:solidFill>
            <a:srgbClr val="07334A"/>
          </a:solidFill>
          <a:ln w="15240">
            <a:solidFill>
              <a:srgbClr val="FFC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80" y="1755648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• ARP table scan for MAC addresses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0" y="2395728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• OUI vendor lookup for device identification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0" y="3035808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• Auto-mark present if device on LAN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3886200"/>
            <a:ext cx="3749039" cy="457200"/>
          </a:xfrm>
          <a:prstGeom prst="rect">
            <a:avLst/>
          </a:prstGeom>
          <a:solidFill>
            <a:srgbClr val="B58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3950208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D1B2A"/>
                </a:solidFill>
              </a:rPr>
              <a:t>Lecture Transcription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4343400"/>
            <a:ext cx="3749039" cy="2103120"/>
          </a:xfrm>
          <a:prstGeom prst="rect">
            <a:avLst/>
          </a:prstGeom>
          <a:solidFill>
            <a:srgbClr val="07334A"/>
          </a:solidFill>
          <a:ln w="15240">
            <a:solidFill>
              <a:srgbClr val="B58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4453128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• OpenAI Whisper / Ollama / whisper.cpp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5093208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• Supports EN / HI / MR &amp; mixed language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5733288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• Word-level timestamps + segment output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297679" y="3886200"/>
            <a:ext cx="3749039" cy="457200"/>
          </a:xfrm>
          <a:prstGeom prst="rect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434840" y="3950208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D1B2A"/>
                </a:solidFill>
              </a:rPr>
              <a:t>AI Note Generation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297679" y="4343400"/>
            <a:ext cx="3749039" cy="2103120"/>
          </a:xfrm>
          <a:prstGeom prst="rect">
            <a:avLst/>
          </a:prstGeom>
          <a:solidFill>
            <a:srgbClr val="07334A"/>
          </a:solidFill>
          <a:ln w="15240">
            <a:solidFill>
              <a:srgbClr val="FF9F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434840" y="4453128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• GPT-4 / Ollama LLaMA3 backend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34840" y="5093208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• Full notes, summaries &amp; key points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434840" y="5733288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• Admin-switchable local vs remote AI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275319" y="3886200"/>
            <a:ext cx="3749039" cy="45720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412480" y="3950208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D1B2A"/>
                </a:solidFill>
              </a:rPr>
              <a:t>Admin Control Panel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275319" y="4343400"/>
            <a:ext cx="3749039" cy="2103120"/>
          </a:xfrm>
          <a:prstGeom prst="rect">
            <a:avLst/>
          </a:prstGeom>
          <a:solidFill>
            <a:srgbClr val="07334A"/>
          </a:solidFill>
          <a:ln w="1524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412480" y="4453128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• User &amp; course management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12480" y="5093208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• AI model switching (local ↔ cloud)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412480" y="5733288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• Analytics dashboard &amp; invite system</a:t>
            </a:r>
          </a:p>
        </p:txBody>
      </p:sp>
      <p:sp>
        <p:nvSpPr>
          <p:cNvPr id="42" name="Rectangle 41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73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74320" y="6510528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8D8EA"/>
                </a:solidFill>
              </a:rPr>
              <a:t>GyanBrige – AI-Powered Smart Education Platform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73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88952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09728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90E0EF"/>
                </a:solidFill>
              </a:rPr>
              <a:t>Algorithms Used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65836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A8D8EA"/>
                </a:solidFill>
              </a:rPr>
              <a:t>Face Recognition &amp; AI Techniques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188720"/>
            <a:ext cx="3703320" cy="6858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79" y="1234440"/>
            <a:ext cx="3520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D1B2A"/>
                </a:solidFill>
              </a:rPr>
              <a:t>LBPH
(Local Binary Pattern Histogram)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874519"/>
            <a:ext cx="3703320" cy="4160520"/>
          </a:xfrm>
          <a:prstGeom prst="rect">
            <a:avLst/>
          </a:prstGeom>
          <a:solidFill>
            <a:srgbClr val="07334A"/>
          </a:solidFill>
          <a:ln w="1524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4632" y="1993392"/>
            <a:ext cx="33832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• Technique: Texture-based local feature extraction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" y="2743200"/>
            <a:ext cx="33832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• Steps: Divide face into cells → compute LBP → build histogram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" y="3493008"/>
            <a:ext cx="33832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• Strength: Robust to lighting &amp; slight pose variations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" y="4242816"/>
            <a:ext cx="33832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• Complexity: O(n·k²) where k = neighbourhood radius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4632" y="4992624"/>
            <a:ext cx="33832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• OpenCV: cv2.face.LBPHFaceRecognizer_create()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51959" y="1188720"/>
            <a:ext cx="3703320" cy="68580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43399" y="1234440"/>
            <a:ext cx="3520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D1B2A"/>
                </a:solidFill>
              </a:rPr>
              <a:t>Eigenfaces
(PCA-Based)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51959" y="1874519"/>
            <a:ext cx="3703320" cy="4160520"/>
          </a:xfrm>
          <a:prstGeom prst="rect">
            <a:avLst/>
          </a:prstGeom>
          <a:solidFill>
            <a:srgbClr val="07334A"/>
          </a:solidFill>
          <a:ln w="1524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16551" y="1993392"/>
            <a:ext cx="33832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• Technique: Principal Component Analysis (PCA)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16551" y="2743200"/>
            <a:ext cx="33832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• Steps: Flatten face matrix → compute covariance → eigenvectors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16551" y="3493008"/>
            <a:ext cx="33832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• Strength: Compact representation of face space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16551" y="4242816"/>
            <a:ext cx="33832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• Weakness: Sensitive to illumination changes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16551" y="4992624"/>
            <a:ext cx="33832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• OpenCV: cv2.face.EigenFaceRecognizer_create()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183879" y="1188720"/>
            <a:ext cx="3703320" cy="685800"/>
          </a:xfrm>
          <a:prstGeom prst="rect">
            <a:avLst/>
          </a:prstGeom>
          <a:solidFill>
            <a:srgbClr val="FFC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75319" y="1234440"/>
            <a:ext cx="3520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D1B2A"/>
                </a:solidFill>
              </a:rPr>
              <a:t>Fisherfaces
(LDA-Based)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183879" y="1874519"/>
            <a:ext cx="3703320" cy="4160520"/>
          </a:xfrm>
          <a:prstGeom prst="rect">
            <a:avLst/>
          </a:prstGeom>
          <a:solidFill>
            <a:srgbClr val="07334A"/>
          </a:solidFill>
          <a:ln w="15240">
            <a:solidFill>
              <a:srgbClr val="FFC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48471" y="1993392"/>
            <a:ext cx="33832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• Technique: Linear Discriminant Analysis (LDA)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48471" y="2743200"/>
            <a:ext cx="33832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• Steps: Maximize between-class / within-class scatter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48471" y="3493008"/>
            <a:ext cx="33832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• Strength: Best inter-class discrimination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48471" y="4242816"/>
            <a:ext cx="33832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• Advantage: More robust than PCA in varied conditions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48471" y="4992624"/>
            <a:ext cx="33832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• OpenCV: cv2.face.FisherFaceRecognizer_create()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6108192"/>
            <a:ext cx="5532120" cy="548640"/>
          </a:xfrm>
          <a:prstGeom prst="rect">
            <a:avLst/>
          </a:prstGeom>
          <a:solidFill>
            <a:srgbClr val="07334A"/>
          </a:solidFill>
          <a:ln w="1524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2920" y="6144768"/>
            <a:ext cx="51663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0E0EF"/>
                </a:solidFill>
              </a:rPr>
              <a:t>OpenAI Whisper  – ASR model (680K hrs training) for multilingual transcription (EN / HI / MR)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035040" y="6108192"/>
            <a:ext cx="5833872" cy="548640"/>
          </a:xfrm>
          <a:prstGeom prst="rect">
            <a:avLst/>
          </a:prstGeom>
          <a:solidFill>
            <a:srgbClr val="07334A"/>
          </a:solidFill>
          <a:ln w="15240">
            <a:solidFill>
              <a:srgbClr val="FFC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199632" y="6144768"/>
            <a:ext cx="5486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0E0EF"/>
                </a:solidFill>
              </a:rPr>
              <a:t>GPT-4 / LLaMA3 (Ollama)  – LLM used to structure raw transcripts into notes, summaries &amp; key points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73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74320" y="6510528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8D8EA"/>
                </a:solidFill>
              </a:rPr>
              <a:t>GyanBrige – AI-Powered Smart Education Platform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73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88952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09728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90E0EF"/>
                </a:solidFill>
              </a:rPr>
              <a:t>System Design Diagrams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65836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A8D8EA"/>
                </a:solidFill>
              </a:rPr>
              <a:t>Use Case &amp; Data Flow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143000"/>
            <a:ext cx="5486400" cy="5440680"/>
          </a:xfrm>
          <a:prstGeom prst="rect">
            <a:avLst/>
          </a:prstGeom>
          <a:solidFill>
            <a:srgbClr val="07334A"/>
          </a:solidFill>
          <a:ln w="1524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18872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C300"/>
                </a:solidFill>
              </a:rPr>
              <a:t>Use Case Diagram (Summary)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920240"/>
            <a:ext cx="1005840" cy="5029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984248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D1B2A"/>
                </a:solidFill>
              </a:rPr>
              <a:t>Admin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3566160"/>
            <a:ext cx="1005840" cy="5029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3630168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D1B2A"/>
                </a:solidFill>
              </a:rPr>
              <a:t>Teacher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" y="5120640"/>
            <a:ext cx="1005840" cy="5029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5184648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D1B2A"/>
                </a:solidFill>
              </a:rPr>
              <a:t>Student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103120" y="1600200"/>
            <a:ext cx="3383280" cy="411480"/>
          </a:xfrm>
          <a:prstGeom prst="rect">
            <a:avLst/>
          </a:prstGeom>
          <a:solidFill>
            <a:srgbClr val="0D1B2A"/>
          </a:solidFill>
          <a:ln w="15240">
            <a:solidFill>
              <a:srgbClr val="90E0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194560" y="1664208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Manage Users &amp; Courses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103120" y="2103120"/>
            <a:ext cx="3383280" cy="411480"/>
          </a:xfrm>
          <a:prstGeom prst="rect">
            <a:avLst/>
          </a:prstGeom>
          <a:solidFill>
            <a:srgbClr val="0D1B2A"/>
          </a:solidFill>
          <a:ln w="15240">
            <a:solidFill>
              <a:srgbClr val="90E0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194560" y="2167127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Configure AI Backend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103120" y="2606040"/>
            <a:ext cx="3383280" cy="411480"/>
          </a:xfrm>
          <a:prstGeom prst="rect">
            <a:avLst/>
          </a:prstGeom>
          <a:solidFill>
            <a:srgbClr val="0D1B2A"/>
          </a:solidFill>
          <a:ln w="15240">
            <a:solidFill>
              <a:srgbClr val="90E0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194560" y="2670048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Assign MAC Addresses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103120" y="3108960"/>
            <a:ext cx="3383280" cy="411480"/>
          </a:xfrm>
          <a:prstGeom prst="rect">
            <a:avLst/>
          </a:prstGeom>
          <a:solidFill>
            <a:srgbClr val="0D1B2A"/>
          </a:solidFill>
          <a:ln w="15240">
            <a:solidFill>
              <a:srgbClr val="90E0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194560" y="3172968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Mark Attendance (Face / Network)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103120" y="3611880"/>
            <a:ext cx="3383280" cy="411480"/>
          </a:xfrm>
          <a:prstGeom prst="rect">
            <a:avLst/>
          </a:prstGeom>
          <a:solidFill>
            <a:srgbClr val="0D1B2A"/>
          </a:solidFill>
          <a:ln w="15240">
            <a:solidFill>
              <a:srgbClr val="90E0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194560" y="3675888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Record &amp; Upload Lectures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103120" y="4114800"/>
            <a:ext cx="3383280" cy="411480"/>
          </a:xfrm>
          <a:prstGeom prst="rect">
            <a:avLst/>
          </a:prstGeom>
          <a:solidFill>
            <a:srgbClr val="0D1B2A"/>
          </a:solidFill>
          <a:ln w="15240">
            <a:solidFill>
              <a:srgbClr val="90E0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194560" y="4178808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Generate AI Transcription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103120" y="4617720"/>
            <a:ext cx="3383280" cy="411480"/>
          </a:xfrm>
          <a:prstGeom prst="rect">
            <a:avLst/>
          </a:prstGeom>
          <a:solidFill>
            <a:srgbClr val="0D1B2A"/>
          </a:solidFill>
          <a:ln w="15240">
            <a:solidFill>
              <a:srgbClr val="90E0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194560" y="4681728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View Notes &amp; Transcripts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103120" y="5120640"/>
            <a:ext cx="3383280" cy="411480"/>
          </a:xfrm>
          <a:prstGeom prst="rect">
            <a:avLst/>
          </a:prstGeom>
          <a:solidFill>
            <a:srgbClr val="0D1B2A"/>
          </a:solidFill>
          <a:ln w="15240">
            <a:solidFill>
              <a:srgbClr val="90E0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194560" y="5184648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Watch Lecture Videos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103120" y="5623560"/>
            <a:ext cx="3383280" cy="411480"/>
          </a:xfrm>
          <a:prstGeom prst="rect">
            <a:avLst/>
          </a:prstGeom>
          <a:solidFill>
            <a:srgbClr val="0D1B2A"/>
          </a:solidFill>
          <a:ln w="15240">
            <a:solidFill>
              <a:srgbClr val="90E0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194560" y="5687568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Track Progress &amp; Attendance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035040" y="1143000"/>
            <a:ext cx="5852160" cy="5440680"/>
          </a:xfrm>
          <a:prstGeom prst="rect">
            <a:avLst/>
          </a:prstGeom>
          <a:solidFill>
            <a:srgbClr val="07334A"/>
          </a:solidFill>
          <a:ln w="1524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172200" y="1188720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C300"/>
                </a:solidFill>
              </a:rPr>
              <a:t>Data Flow – Transcription &amp; Notes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126480" y="1691640"/>
            <a:ext cx="320040" cy="41148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37960" y="1728216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1. Teacher records / uploads lecture audio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08776" y="2103120"/>
            <a:ext cx="320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0B4D8"/>
                </a:solidFill>
              </a:rPr>
              <a:t>↓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126480" y="2276856"/>
            <a:ext cx="320040" cy="41148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37960" y="2313432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2. Audio sent to Transcription Server (Express)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08776" y="2688336"/>
            <a:ext cx="320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0B4D8"/>
                </a:solidFill>
              </a:rPr>
              <a:t>↓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126480" y="2862072"/>
            <a:ext cx="320040" cy="411480"/>
          </a:xfrm>
          <a:prstGeom prst="rect">
            <a:avLst/>
          </a:prstGeom>
          <a:solidFill>
            <a:srgbClr val="FFC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537960" y="2898648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3. Whisper API / Ollama processes audio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08776" y="3273552"/>
            <a:ext cx="320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0B4D8"/>
                </a:solidFill>
              </a:rPr>
              <a:t>↓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126480" y="3447288"/>
            <a:ext cx="320040" cy="41148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537960" y="3483864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4. Timestamped transcript returned to client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208776" y="3858768"/>
            <a:ext cx="320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0B4D8"/>
                </a:solidFill>
              </a:rPr>
              <a:t>↓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126480" y="4032504"/>
            <a:ext cx="320040" cy="41148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537960" y="406908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5. Transcript sent to Note Generator service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208776" y="4443984"/>
            <a:ext cx="320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0B4D8"/>
                </a:solidFill>
              </a:rPr>
              <a:t>↓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126480" y="4617720"/>
            <a:ext cx="320040" cy="411480"/>
          </a:xfrm>
          <a:prstGeom prst="rect">
            <a:avLst/>
          </a:prstGeom>
          <a:solidFill>
            <a:srgbClr val="FFC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537960" y="4654296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6. GPT-4 / LLaMA3 generates structured notes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208776" y="5029200"/>
            <a:ext cx="320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0B4D8"/>
                </a:solidFill>
              </a:rPr>
              <a:t>↓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126480" y="5202936"/>
            <a:ext cx="320040" cy="41148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537960" y="5239512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7. Notes stored &amp; displayed to students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208776" y="5614416"/>
            <a:ext cx="320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0B4D8"/>
                </a:solidFill>
              </a:rPr>
              <a:t>↓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126480" y="5788152"/>
            <a:ext cx="320040" cy="41148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537960" y="5824728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8. Students access notes + video on mobile/web</a:t>
            </a:r>
          </a:p>
        </p:txBody>
      </p:sp>
      <p:sp>
        <p:nvSpPr>
          <p:cNvPr id="58" name="Rectangle 57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73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74320" y="6510528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8D8EA"/>
                </a:solidFill>
              </a:rPr>
              <a:t>GyanBrige – AI-Powered Smart Education Platform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73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88952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09728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90E0EF"/>
                </a:solidFill>
              </a:rPr>
              <a:t>Development Environment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65836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A8D8EA"/>
                </a:solidFill>
              </a:rPr>
              <a:t>Tools, Platform &amp; Configuration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188720"/>
            <a:ext cx="5669280" cy="4572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252728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D1B2A"/>
                </a:solidFill>
              </a:rPr>
              <a:t>Hardware Requirements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645920"/>
            <a:ext cx="5669280" cy="2139696"/>
          </a:xfrm>
          <a:prstGeom prst="rect">
            <a:avLst/>
          </a:prstGeom>
          <a:solidFill>
            <a:srgbClr val="07334A"/>
          </a:solidFill>
          <a:ln w="1524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4632" y="1764792"/>
            <a:ext cx="5349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▸ Processor:  Intel Core i5 / Apple M1 or above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" y="2148840"/>
            <a:ext cx="5349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▸ RAM:        8 GB minimum (16 GB recommended)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" y="2532888"/>
            <a:ext cx="5349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▸ Storage:    SSD with 20 GB free space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" y="2916936"/>
            <a:ext cx="5349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▸ Camera:     720p+ webcam for face recognition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4632" y="3300984"/>
            <a:ext cx="5349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▸ Network:    LAN router for network attendance scan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63640" y="1188720"/>
            <a:ext cx="5669280" cy="45720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252728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D1B2A"/>
                </a:solidFill>
              </a:rPr>
              <a:t>Software Requirements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63640" y="1645920"/>
            <a:ext cx="5669280" cy="2139696"/>
          </a:xfrm>
          <a:prstGeom prst="rect">
            <a:avLst/>
          </a:prstGeom>
          <a:solidFill>
            <a:srgbClr val="07334A"/>
          </a:solidFill>
          <a:ln w="1524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28231" y="1764792"/>
            <a:ext cx="5349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▸ OS:         macOS 12+ / Ubuntu 20.04+ / Windows 11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28231" y="2148840"/>
            <a:ext cx="5349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▸ Runtime:    Node.js 20 LTS,  Python 3.10+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28231" y="2532888"/>
            <a:ext cx="5349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▸ Framework:  Next.js 16,  Expo SDK 54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28231" y="2916936"/>
            <a:ext cx="5349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▸ IDE:        VS Code with ESLint + Tailwind plugins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28231" y="3300984"/>
            <a:ext cx="5349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▸ VCS:        Git + GitHub (branch: main / dev)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3913632"/>
            <a:ext cx="5669280" cy="457200"/>
          </a:xfrm>
          <a:prstGeom prst="rect">
            <a:avLst/>
          </a:prstGeom>
          <a:solidFill>
            <a:srgbClr val="FFC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3977640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D1B2A"/>
                </a:solidFill>
              </a:rPr>
              <a:t>AI / ML Tools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" y="4370832"/>
            <a:ext cx="5669280" cy="2139696"/>
          </a:xfrm>
          <a:prstGeom prst="rect">
            <a:avLst/>
          </a:prstGeom>
          <a:solidFill>
            <a:srgbClr val="07334A"/>
          </a:solidFill>
          <a:ln w="15240">
            <a:solidFill>
              <a:srgbClr val="FFC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84632" y="4489704"/>
            <a:ext cx="5349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▸ OpenAI API: Whisper-1 (ASR),  GPT-4-turbo / GPT-4o-mini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4632" y="4873752"/>
            <a:ext cx="5349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▸ Ollama:     LLaMA3, Mistral (local AI backend)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4632" y="5257800"/>
            <a:ext cx="5349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▸ whisper.cpp: ggml-large-v3.bin (offline transcription)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4632" y="5641848"/>
            <a:ext cx="5349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▸ OpenCV:     4.x  – LBPH, Eigenfaces, Fisherfaces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4632" y="6025896"/>
            <a:ext cx="5349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▸ Python:     face_recognition, NumPy, scikit-learn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63640" y="3913632"/>
            <a:ext cx="5669280" cy="457200"/>
          </a:xfrm>
          <a:prstGeom prst="rect">
            <a:avLst/>
          </a:prstGeom>
          <a:solidFill>
            <a:srgbClr val="B58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0" y="3977640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D1B2A"/>
                </a:solidFill>
              </a:rPr>
              <a:t>Deployment &amp; Testing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63640" y="4370832"/>
            <a:ext cx="5669280" cy="2139696"/>
          </a:xfrm>
          <a:prstGeom prst="rect">
            <a:avLst/>
          </a:prstGeom>
          <a:solidFill>
            <a:srgbClr val="07334A"/>
          </a:solidFill>
          <a:ln w="15240">
            <a:solidFill>
              <a:srgbClr val="B58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28231" y="4489704"/>
            <a:ext cx="5349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▸ Web:        Vercel (Next.js) / localhost:3000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28231" y="4873752"/>
            <a:ext cx="5349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▸ Mobile:     Expo Go app / Android emulator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28231" y="5257800"/>
            <a:ext cx="5349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▸ Server:     localhost:3001 (transcription / notes API)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28231" y="5641848"/>
            <a:ext cx="5349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▸ Testing:    Postman (API),  React DevTools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28231" y="6025896"/>
            <a:ext cx="5349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▸ Browsers:   Chrome 120+, Safari 17+, Firefox 120+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73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74320" y="6510528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8D8EA"/>
                </a:solidFill>
              </a:rPr>
              <a:t>GyanBrige – AI-Powered Smart Education Platform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73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88952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09728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90E0EF"/>
                </a:solidFill>
              </a:rPr>
              <a:t>Classes &amp; Libraries Used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65836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A8D8EA"/>
                </a:solidFill>
              </a:rPr>
              <a:t>Key Modules Across the Stack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188720"/>
            <a:ext cx="3749039" cy="4572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79" y="1243584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1B2A"/>
                </a:solidFill>
              </a:rPr>
              <a:t>Frontend (Next.js / React)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645920"/>
            <a:ext cx="3749039" cy="4937760"/>
          </a:xfrm>
          <a:prstGeom prst="rect">
            <a:avLst/>
          </a:prstGeom>
          <a:solidFill>
            <a:srgbClr val="07334A"/>
          </a:solidFill>
          <a:ln w="1524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792224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B4D8"/>
                </a:solidFill>
              </a:rPr>
              <a:t>next/navigation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066543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EE"/>
                </a:solidFill>
              </a:rPr>
              <a:t>useRouter, redirect – client-side routing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450591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B4D8"/>
                </a:solidFill>
              </a:rPr>
              <a:t>next/server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2724911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EE"/>
                </a:solidFill>
              </a:rPr>
              <a:t>NextResponse – API route responses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310896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B4D8"/>
                </a:solidFill>
              </a:rPr>
              <a:t>react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3383279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EE"/>
                </a:solidFill>
              </a:rPr>
              <a:t>useState, useEffect, useCallback hooks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3767328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B4D8"/>
                </a:solidFill>
              </a:rPr>
              <a:t>tailwindcss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4041648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EE"/>
                </a:solidFill>
              </a:rPr>
              <a:t>Utility-first CSS framework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4425696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B4D8"/>
                </a:solidFill>
              </a:rPr>
              <a:t>/lib/db.ts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4700016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EE"/>
                </a:solidFill>
              </a:rPr>
              <a:t>users, courses, lectures, attendance stores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5084064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B4D8"/>
                </a:solidFill>
              </a:rPr>
              <a:t>/lib/oui.ts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5358383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EE"/>
                </a:solidFill>
              </a:rPr>
              <a:t>lookupVendor() – MAC to manufacturer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5742432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B4D8"/>
                </a:solidFill>
              </a:rPr>
              <a:t>/lib/api.ts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016752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EE"/>
                </a:solidFill>
              </a:rPr>
              <a:t>Centralised API fetch helpers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70248" y="1188720"/>
            <a:ext cx="3749039" cy="45720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61688" y="1243584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1B2A"/>
                </a:solidFill>
              </a:rPr>
              <a:t>Mobile (React Native / Expo)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270248" y="1645920"/>
            <a:ext cx="3749039" cy="4937760"/>
          </a:xfrm>
          <a:prstGeom prst="rect">
            <a:avLst/>
          </a:prstGeom>
          <a:solidFill>
            <a:srgbClr val="07334A"/>
          </a:solidFill>
          <a:ln w="1524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453128" y="1792224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6D6A0"/>
                </a:solidFill>
              </a:rPr>
              <a:t>expo-av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53128" y="2066543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EE"/>
                </a:solidFill>
              </a:rPr>
              <a:t>Audio/video recording &amp; playback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53128" y="2450591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6D6A0"/>
                </a:solidFill>
              </a:rPr>
              <a:t>expo-sqlite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53128" y="2724911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EE"/>
                </a:solidFill>
              </a:rPr>
              <a:t>Local SQLite DB for attendance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53128" y="310896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6D6A0"/>
                </a:solidFill>
              </a:rPr>
              <a:t>expo-image-picker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53128" y="3383279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EE"/>
                </a:solidFill>
              </a:rPr>
              <a:t>Camera for face capture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53128" y="3767328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6D6A0"/>
                </a:solidFill>
              </a:rPr>
              <a:t>expo-linear-gradient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53128" y="4041648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EE"/>
                </a:solidFill>
              </a:rPr>
              <a:t>UI gradient backgrounds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453128" y="4425696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6D6A0"/>
                </a:solidFill>
              </a:rPr>
              <a:t>react-navigation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453128" y="4700016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EE"/>
                </a:solidFill>
              </a:rPr>
              <a:t>Stack &amp; Tab navigators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453128" y="5084064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6D6A0"/>
                </a:solidFill>
              </a:rPr>
              <a:t>AsyncStorage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453128" y="5358383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EE"/>
                </a:solidFill>
              </a:rPr>
              <a:t>Persistent local key-value store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453128" y="5742432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6D6A0"/>
                </a:solidFill>
              </a:rPr>
              <a:t>fluent-ffmpeg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453128" y="6016752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EE"/>
                </a:solidFill>
              </a:rPr>
              <a:t>Audio format conversion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220456" y="1188720"/>
            <a:ext cx="3749039" cy="457200"/>
          </a:xfrm>
          <a:prstGeom prst="rect">
            <a:avLst/>
          </a:prstGeom>
          <a:solidFill>
            <a:srgbClr val="FFC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311896" y="1243584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1B2A"/>
                </a:solidFill>
              </a:rPr>
              <a:t>Backend &amp; AI (Node.js / Python)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220456" y="1645920"/>
            <a:ext cx="3749039" cy="4937760"/>
          </a:xfrm>
          <a:prstGeom prst="rect">
            <a:avLst/>
          </a:prstGeom>
          <a:solidFill>
            <a:srgbClr val="07334A"/>
          </a:solidFill>
          <a:ln w="15240">
            <a:solidFill>
              <a:srgbClr val="FFC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403336" y="1792224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C300"/>
                </a:solidFill>
              </a:rPr>
              <a:t>express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403336" y="2066543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EE"/>
                </a:solidFill>
              </a:rPr>
              <a:t>REST API server &amp; middleware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403336" y="2450591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C300"/>
                </a:solidFill>
              </a:rPr>
              <a:t>multer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403336" y="2724911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EE"/>
                </a:solidFill>
              </a:rPr>
              <a:t>Multipart audio file uploads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403336" y="310896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C300"/>
                </a:solidFill>
              </a:rPr>
              <a:t>openai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403336" y="3383279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EE"/>
                </a:solidFill>
              </a:rPr>
              <a:t>Whisper ASR + GPT-4 note generation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403336" y="3767328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C300"/>
                </a:solidFill>
              </a:rPr>
              <a:t>node-fetch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403336" y="4041648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EE"/>
                </a:solidFill>
              </a:rPr>
              <a:t>HTTP calls to Ollama local AI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403336" y="4425696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C300"/>
                </a:solidFill>
              </a:rPr>
              <a:t>cv2 (OpenCV)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403336" y="4700016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EE"/>
                </a:solidFill>
              </a:rPr>
              <a:t>Face detection &amp; recognition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403336" y="5084064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C300"/>
                </a:solidFill>
              </a:rPr>
              <a:t>cv2.face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403336" y="5358383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EE"/>
                </a:solidFill>
              </a:rPr>
              <a:t>LBPH / Eigen / Fisher recognizers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403336" y="5742432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C300"/>
                </a:solidFill>
              </a:rPr>
              <a:t>sklearn.metrics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403336" y="6016752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EE"/>
                </a:solidFill>
              </a:rPr>
              <a:t>Precision, Recall, F1-Score</a:t>
            </a:r>
          </a:p>
        </p:txBody>
      </p:sp>
      <p:sp>
        <p:nvSpPr>
          <p:cNvPr id="58" name="Rectangle 57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73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74320" y="6510528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8D8EA"/>
                </a:solidFill>
              </a:rPr>
              <a:t>GyanBrige – AI-Powered Smart Education Platform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73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88952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09728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90E0EF"/>
                </a:solidFill>
              </a:rPr>
              <a:t>Implementation Steps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65836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A8D8EA"/>
                </a:solidFill>
              </a:rPr>
              <a:t>Development Methodology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188720"/>
            <a:ext cx="438912" cy="47548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1243584"/>
            <a:ext cx="4389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D1B2A"/>
                </a:solidFill>
              </a:rPr>
              <a:t>1</a:t>
            </a:r>
          </a:p>
        </p:txBody>
      </p:sp>
      <p:sp>
        <p:nvSpPr>
          <p:cNvPr id="9" name="Rectangle 8"/>
          <p:cNvSpPr/>
          <p:nvPr/>
        </p:nvSpPr>
        <p:spPr>
          <a:xfrm>
            <a:off x="758952" y="1188720"/>
            <a:ext cx="5212080" cy="47548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271016"/>
            <a:ext cx="5029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1B2A"/>
                </a:solidFill>
              </a:rPr>
              <a:t>Phase 1: Planning &amp; Design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1664208"/>
            <a:ext cx="5650992" cy="749808"/>
          </a:xfrm>
          <a:prstGeom prst="rect">
            <a:avLst/>
          </a:prstGeom>
          <a:solidFill>
            <a:srgbClr val="07334A"/>
          </a:solidFill>
          <a:ln w="1524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4632" y="1719072"/>
            <a:ext cx="5321808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CDDEE"/>
                </a:solidFill>
              </a:rPr>
              <a:t>Requirements gathering, system architecture design, UI/UX wireframing, database schema, API contract definition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81927" y="1188720"/>
            <a:ext cx="438912" cy="475488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81927" y="1243584"/>
            <a:ext cx="4389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D1B2A"/>
                </a:solidFill>
              </a:rPr>
              <a:t>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720840" y="1188720"/>
            <a:ext cx="5212080" cy="475488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30567" y="1271016"/>
            <a:ext cx="5029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1B2A"/>
                </a:solidFill>
              </a:rPr>
              <a:t>Phase 2: Authentication &amp; User Management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81927" y="1664208"/>
            <a:ext cx="5650992" cy="749808"/>
          </a:xfrm>
          <a:prstGeom prst="rect">
            <a:avLst/>
          </a:prstGeom>
          <a:solidFill>
            <a:srgbClr val="07334A"/>
          </a:solidFill>
          <a:ln w="1524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19" y="1719072"/>
            <a:ext cx="5321808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CDDEE"/>
                </a:solidFill>
              </a:rPr>
              <a:t>JWT auth endpoints, role-based access control (Admin/Teacher/Student), invite token system, user CRUD APIs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2542032"/>
            <a:ext cx="438912" cy="475488"/>
          </a:xfrm>
          <a:prstGeom prst="rect">
            <a:avLst/>
          </a:prstGeom>
          <a:solidFill>
            <a:srgbClr val="FFC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0040" y="2596896"/>
            <a:ext cx="4389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D1B2A"/>
                </a:solidFill>
              </a:rPr>
              <a:t>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58952" y="2542032"/>
            <a:ext cx="5212080" cy="475488"/>
          </a:xfrm>
          <a:prstGeom prst="rect">
            <a:avLst/>
          </a:prstGeom>
          <a:solidFill>
            <a:srgbClr val="FFC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2624328"/>
            <a:ext cx="5029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1B2A"/>
                </a:solidFill>
              </a:rPr>
              <a:t>Phase 3: Face Recognition Module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3017520"/>
            <a:ext cx="5650992" cy="749808"/>
          </a:xfrm>
          <a:prstGeom prst="rect">
            <a:avLst/>
          </a:prstGeom>
          <a:solidFill>
            <a:srgbClr val="07334A"/>
          </a:solidFill>
          <a:ln w="15240">
            <a:solidFill>
              <a:srgbClr val="FFC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84632" y="3072384"/>
            <a:ext cx="5321808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CDDEE"/>
                </a:solidFill>
              </a:rPr>
              <a:t>Dataset collection (multiple images per student), training LBPH/Eigenfaces/Fisherfaces models, real-time camera inference, threshold tuning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81927" y="2542032"/>
            <a:ext cx="438912" cy="475488"/>
          </a:xfrm>
          <a:prstGeom prst="rect">
            <a:avLst/>
          </a:prstGeom>
          <a:solidFill>
            <a:srgbClr val="B58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81927" y="2596896"/>
            <a:ext cx="4389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D1B2A"/>
                </a:solidFill>
              </a:rPr>
              <a:t>4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720840" y="2542032"/>
            <a:ext cx="5212080" cy="475488"/>
          </a:xfrm>
          <a:prstGeom prst="rect">
            <a:avLst/>
          </a:prstGeom>
          <a:solidFill>
            <a:srgbClr val="B58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30567" y="2624328"/>
            <a:ext cx="5029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1B2A"/>
                </a:solidFill>
              </a:rPr>
              <a:t>Phase 4: Network Attendance Module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81927" y="3017520"/>
            <a:ext cx="5650992" cy="749808"/>
          </a:xfrm>
          <a:prstGeom prst="rect">
            <a:avLst/>
          </a:prstGeom>
          <a:solidFill>
            <a:srgbClr val="07334A"/>
          </a:solidFill>
          <a:ln w="15240">
            <a:solidFill>
              <a:srgbClr val="B58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46519" y="3072384"/>
            <a:ext cx="5321808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CDDEE"/>
                </a:solidFill>
              </a:rPr>
              <a:t>ARP cache population via broadcast ping, MAC parsing, OUI vendor lookup, student-device mapping, auto attendance marking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3895344"/>
            <a:ext cx="438912" cy="475488"/>
          </a:xfrm>
          <a:prstGeom prst="rect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20040" y="3950207"/>
            <a:ext cx="4389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D1B2A"/>
                </a:solidFill>
              </a:rPr>
              <a:t>5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58952" y="3895344"/>
            <a:ext cx="5212080" cy="475488"/>
          </a:xfrm>
          <a:prstGeom prst="rect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68680" y="3977639"/>
            <a:ext cx="5029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1B2A"/>
                </a:solidFill>
              </a:rPr>
              <a:t>Phase 5: Transcription Service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20040" y="4370831"/>
            <a:ext cx="5650992" cy="749808"/>
          </a:xfrm>
          <a:prstGeom prst="rect">
            <a:avLst/>
          </a:prstGeom>
          <a:solidFill>
            <a:srgbClr val="07334A"/>
          </a:solidFill>
          <a:ln w="15240">
            <a:solidFill>
              <a:srgbClr val="FF9F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84632" y="4425696"/>
            <a:ext cx="5321808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CDDEE"/>
                </a:solidFill>
              </a:rPr>
              <a:t>Express API setup, Multer file upload, Whisper integration (OpenAI/Ollama/local), language detection, timestamp extraction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281927" y="3895344"/>
            <a:ext cx="438912" cy="475488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281927" y="3950207"/>
            <a:ext cx="4389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D1B2A"/>
                </a:solidFill>
              </a:rPr>
              <a:t>6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720840" y="3895344"/>
            <a:ext cx="5212080" cy="475488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830567" y="3977639"/>
            <a:ext cx="5029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1B2A"/>
                </a:solidFill>
              </a:rPr>
              <a:t>Phase 6: AI Note Generation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281927" y="4370831"/>
            <a:ext cx="5650992" cy="749808"/>
          </a:xfrm>
          <a:prstGeom prst="rect">
            <a:avLst/>
          </a:prstGeom>
          <a:solidFill>
            <a:srgbClr val="07334A"/>
          </a:solidFill>
          <a:ln w="1524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46519" y="4425696"/>
            <a:ext cx="5321808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CDDEE"/>
                </a:solidFill>
              </a:rPr>
              <a:t>GPT-4 / LLaMA3 prompt engineering, note type selection (full/summary/keypoints), admin toggle for local vs cloud AI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20040" y="5248655"/>
            <a:ext cx="438912" cy="475488"/>
          </a:xfrm>
          <a:prstGeom prst="rect">
            <a:avLst/>
          </a:prstGeom>
          <a:solidFill>
            <a:srgbClr val="90E0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20040" y="5303519"/>
            <a:ext cx="4389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D1B2A"/>
                </a:solidFill>
              </a:rPr>
              <a:t>7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58952" y="5248655"/>
            <a:ext cx="5212080" cy="475488"/>
          </a:xfrm>
          <a:prstGeom prst="rect">
            <a:avLst/>
          </a:prstGeom>
          <a:solidFill>
            <a:srgbClr val="90E0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68680" y="5330951"/>
            <a:ext cx="5029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1B2A"/>
                </a:solidFill>
              </a:rPr>
              <a:t>Phase 7: Mobile App Development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20040" y="5724144"/>
            <a:ext cx="5650992" cy="749808"/>
          </a:xfrm>
          <a:prstGeom prst="rect">
            <a:avLst/>
          </a:prstGeom>
          <a:solidFill>
            <a:srgbClr val="07334A"/>
          </a:solidFill>
          <a:ln w="15240">
            <a:solidFill>
              <a:srgbClr val="90E0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84632" y="5779007"/>
            <a:ext cx="5321808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CDDEE"/>
                </a:solidFill>
              </a:rPr>
              <a:t>Expo project setup, React Navigation, screens for each role, offline SQLite attendance, video player integration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281927" y="5248655"/>
            <a:ext cx="438912" cy="475488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281927" y="5303519"/>
            <a:ext cx="4389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D1B2A"/>
                </a:solidFill>
              </a:rPr>
              <a:t>8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720840" y="5248655"/>
            <a:ext cx="5212080" cy="475488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830567" y="5330951"/>
            <a:ext cx="5029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1B2A"/>
                </a:solidFill>
              </a:rPr>
              <a:t>Phase 8: Testing, Optimization &amp; Deployment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281927" y="5724144"/>
            <a:ext cx="5650992" cy="749808"/>
          </a:xfrm>
          <a:prstGeom prst="rect">
            <a:avLst/>
          </a:prstGeom>
          <a:solidFill>
            <a:srgbClr val="07334A"/>
          </a:solidFill>
          <a:ln w="1524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446519" y="5779007"/>
            <a:ext cx="5321808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CDDEE"/>
                </a:solidFill>
              </a:rPr>
              <a:t>Unit &amp; integration testing, algorithm accuracy comparison, Vercel deployment, performance benchmarking</a:t>
            </a:r>
          </a:p>
        </p:txBody>
      </p:sp>
      <p:sp>
        <p:nvSpPr>
          <p:cNvPr id="55" name="Rectangle 54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73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74320" y="6510528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8D8EA"/>
                </a:solidFill>
              </a:rPr>
              <a:t>GyanBrige – AI-Powered Smart Education Platform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73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88952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09728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90E0EF"/>
                </a:solidFill>
              </a:rPr>
              <a:t>Analysis Parameters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65836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A8D8EA"/>
                </a:solidFill>
              </a:rPr>
              <a:t>Evaluation Metrics for Face Recognition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188720"/>
            <a:ext cx="2788920" cy="47548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79" y="1261872"/>
            <a:ext cx="2606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1B2A"/>
                </a:solidFill>
              </a:rPr>
              <a:t>True Positive (TP)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664208"/>
            <a:ext cx="2788920" cy="1993392"/>
          </a:xfrm>
          <a:prstGeom prst="rect">
            <a:avLst/>
          </a:prstGeom>
          <a:solidFill>
            <a:srgbClr val="07334A"/>
          </a:solidFill>
          <a:ln w="1524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783080"/>
            <a:ext cx="251460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Face correctly identified as the matching student.
Model predicts the correct person.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73552" y="1188720"/>
            <a:ext cx="2788920" cy="475488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64992" y="1261872"/>
            <a:ext cx="2606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1B2A"/>
                </a:solidFill>
              </a:rPr>
              <a:t>True Negative (TN)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73552" y="1664208"/>
            <a:ext cx="2788920" cy="1993392"/>
          </a:xfrm>
          <a:prstGeom prst="rect">
            <a:avLst/>
          </a:prstGeom>
          <a:solidFill>
            <a:srgbClr val="07334A"/>
          </a:solidFill>
          <a:ln w="1524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10712" y="1783080"/>
            <a:ext cx="251460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Unknown face correctly rejected by the model.
Model correctly rejects non-matching face.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27064" y="1188720"/>
            <a:ext cx="2788920" cy="475488"/>
          </a:xfrm>
          <a:prstGeom prst="rect">
            <a:avLst/>
          </a:prstGeom>
          <a:solidFill>
            <a:srgbClr val="EF4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18503" y="1261872"/>
            <a:ext cx="2606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1B2A"/>
                </a:solidFill>
              </a:rPr>
              <a:t>False Positive (FP)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27064" y="1664208"/>
            <a:ext cx="2788920" cy="1993392"/>
          </a:xfrm>
          <a:prstGeom prst="rect">
            <a:avLst/>
          </a:prstGeom>
          <a:solidFill>
            <a:srgbClr val="07334A"/>
          </a:solidFill>
          <a:ln w="15240">
            <a:solidFill>
              <a:srgbClr val="EF47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64224" y="1783080"/>
            <a:ext cx="251460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Wrong person identified as a student.
Model incorrectly grants access to intruder.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80576" y="1188720"/>
            <a:ext cx="2788920" cy="475488"/>
          </a:xfrm>
          <a:prstGeom prst="rect">
            <a:avLst/>
          </a:prstGeom>
          <a:solidFill>
            <a:srgbClr val="FFC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72015" y="1261872"/>
            <a:ext cx="2606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1B2A"/>
                </a:solidFill>
              </a:rPr>
              <a:t>False Negative (FN)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80576" y="1664208"/>
            <a:ext cx="2788920" cy="1993392"/>
          </a:xfrm>
          <a:prstGeom prst="rect">
            <a:avLst/>
          </a:prstGeom>
          <a:solidFill>
            <a:srgbClr val="07334A"/>
          </a:solidFill>
          <a:ln w="15240">
            <a:solidFill>
              <a:srgbClr val="FFC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17736" y="1783080"/>
            <a:ext cx="251460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Registered student not recognized.
Model fails to identify enrolled student.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3794760"/>
            <a:ext cx="2788920" cy="475488"/>
          </a:xfrm>
          <a:prstGeom prst="rect">
            <a:avLst/>
          </a:prstGeom>
          <a:solidFill>
            <a:srgbClr val="B58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11479" y="3867912"/>
            <a:ext cx="2606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1B2A"/>
                </a:solidFill>
              </a:rPr>
              <a:t>Precision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" y="4270248"/>
            <a:ext cx="2788920" cy="1993392"/>
          </a:xfrm>
          <a:prstGeom prst="rect">
            <a:avLst/>
          </a:prstGeom>
          <a:solidFill>
            <a:srgbClr val="07334A"/>
          </a:solidFill>
          <a:ln w="15240">
            <a:solidFill>
              <a:srgbClr val="B58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4389120"/>
            <a:ext cx="251460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TP / (TP + FP)
Fraction of identifications that were actually correct.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73552" y="3794760"/>
            <a:ext cx="2788920" cy="475488"/>
          </a:xfrm>
          <a:prstGeom prst="rect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364992" y="3867912"/>
            <a:ext cx="2606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1B2A"/>
                </a:solidFill>
              </a:rPr>
              <a:t>Recall (Sensitivity)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73552" y="4270248"/>
            <a:ext cx="2788920" cy="1993392"/>
          </a:xfrm>
          <a:prstGeom prst="rect">
            <a:avLst/>
          </a:prstGeom>
          <a:solidFill>
            <a:srgbClr val="07334A"/>
          </a:solidFill>
          <a:ln w="15240">
            <a:solidFill>
              <a:srgbClr val="FF9F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410712" y="4389120"/>
            <a:ext cx="251460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TP / (TP + FN)
Fraction of actual students correctly identified.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27064" y="3794760"/>
            <a:ext cx="2788920" cy="475488"/>
          </a:xfrm>
          <a:prstGeom prst="rect">
            <a:avLst/>
          </a:prstGeom>
          <a:solidFill>
            <a:srgbClr val="90E0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18503" y="3867912"/>
            <a:ext cx="2606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1B2A"/>
                </a:solidFill>
              </a:rPr>
              <a:t>F1-Score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27064" y="4270248"/>
            <a:ext cx="2788920" cy="1993392"/>
          </a:xfrm>
          <a:prstGeom prst="rect">
            <a:avLst/>
          </a:prstGeom>
          <a:solidFill>
            <a:srgbClr val="07334A"/>
          </a:solidFill>
          <a:ln w="15240">
            <a:solidFill>
              <a:srgbClr val="90E0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64224" y="4389120"/>
            <a:ext cx="251460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2 × (Precision × Recall) / (Precision + Recall)
Harmonic mean – balances Precision and Recall.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180576" y="3794760"/>
            <a:ext cx="2788920" cy="475488"/>
          </a:xfrm>
          <a:prstGeom prst="rect">
            <a:avLst/>
          </a:prstGeom>
          <a:solidFill>
            <a:srgbClr val="FFC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272015" y="3867912"/>
            <a:ext cx="2606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1B2A"/>
                </a:solidFill>
              </a:rPr>
              <a:t>Confidence 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180576" y="4270248"/>
            <a:ext cx="2788920" cy="1993392"/>
          </a:xfrm>
          <a:prstGeom prst="rect">
            <a:avLst/>
          </a:prstGeom>
          <a:solidFill>
            <a:srgbClr val="07334A"/>
          </a:solidFill>
          <a:ln w="15240">
            <a:solidFill>
              <a:srgbClr val="FFC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317736" y="4389120"/>
            <a:ext cx="251460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Algorithm's internal distance/score converted to %.
Lower OpenCV distance = Higher confidence match.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73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74320" y="6510528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8D8EA"/>
                </a:solidFill>
              </a:rPr>
              <a:t>GyanBrige – AI-Powered Smart Education Platform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73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88952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09728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90E0EF"/>
                </a:solidFill>
              </a:rPr>
              <a:t>Comparison of Confidence % of Face Recognition Algorithms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65836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A8D8EA"/>
                </a:solidFill>
              </a:rPr>
              <a:t>LBPH vs Eigenfaces vs Fisherfaces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188720"/>
            <a:ext cx="1737360" cy="457200"/>
          </a:xfrm>
          <a:prstGeom prst="rect">
            <a:avLst/>
          </a:prstGeom>
          <a:solidFill>
            <a:srgbClr val="052540"/>
          </a:solidFill>
          <a:ln w="1524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93192" y="1261872"/>
            <a:ext cx="159105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Test Subject</a:t>
            </a:r>
          </a:p>
        </p:txBody>
      </p:sp>
      <p:sp>
        <p:nvSpPr>
          <p:cNvPr id="9" name="Rectangle 8"/>
          <p:cNvSpPr/>
          <p:nvPr/>
        </p:nvSpPr>
        <p:spPr>
          <a:xfrm>
            <a:off x="2057400" y="1188720"/>
            <a:ext cx="2011680" cy="457200"/>
          </a:xfrm>
          <a:prstGeom prst="rect">
            <a:avLst/>
          </a:prstGeom>
          <a:solidFill>
            <a:srgbClr val="052540"/>
          </a:solidFill>
          <a:ln w="1524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130552" y="1261872"/>
            <a:ext cx="186537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Condition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069080" y="1188720"/>
            <a:ext cx="2286000" cy="457200"/>
          </a:xfrm>
          <a:prstGeom prst="rect">
            <a:avLst/>
          </a:prstGeom>
          <a:solidFill>
            <a:srgbClr val="00B4D8"/>
          </a:solidFill>
          <a:ln w="1524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42232" y="1261872"/>
            <a:ext cx="213969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LBPH Confidence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5080" y="1188720"/>
            <a:ext cx="2468880" cy="457200"/>
          </a:xfrm>
          <a:prstGeom prst="rect">
            <a:avLst/>
          </a:prstGeom>
          <a:solidFill>
            <a:srgbClr val="06D6A0"/>
          </a:solidFill>
          <a:ln w="1524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28232" y="1261872"/>
            <a:ext cx="232257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Eigenfaces Confidence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823960" y="1188720"/>
            <a:ext cx="2468880" cy="457200"/>
          </a:xfrm>
          <a:prstGeom prst="rect">
            <a:avLst/>
          </a:prstGeom>
          <a:solidFill>
            <a:srgbClr val="FFC300"/>
          </a:solidFill>
          <a:ln w="1524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97112" y="1261872"/>
            <a:ext cx="232257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Fisherfaces Confidence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1645920"/>
            <a:ext cx="1737360" cy="457200"/>
          </a:xfrm>
          <a:prstGeom prst="rect">
            <a:avLst/>
          </a:prstGeom>
          <a:solidFill>
            <a:srgbClr val="07334A"/>
          </a:solidFill>
          <a:ln w="15240">
            <a:solidFill>
              <a:srgbClr val="15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93192" y="1737360"/>
            <a:ext cx="159105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Student 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057400" y="1645920"/>
            <a:ext cx="2011680" cy="457200"/>
          </a:xfrm>
          <a:prstGeom prst="rect">
            <a:avLst/>
          </a:prstGeom>
          <a:solidFill>
            <a:srgbClr val="07334A"/>
          </a:solidFill>
          <a:ln w="15240">
            <a:solidFill>
              <a:srgbClr val="15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130552" y="1737360"/>
            <a:ext cx="18653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Normal lighting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069080" y="1645920"/>
            <a:ext cx="2286000" cy="457200"/>
          </a:xfrm>
          <a:prstGeom prst="rect">
            <a:avLst/>
          </a:prstGeom>
          <a:solidFill>
            <a:srgbClr val="07334A"/>
          </a:solidFill>
          <a:ln w="15240">
            <a:solidFill>
              <a:srgbClr val="15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42232" y="1737360"/>
            <a:ext cx="21396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0B4D8"/>
                </a:solidFill>
              </a:rPr>
              <a:t>91.4 %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55080" y="1645920"/>
            <a:ext cx="2468880" cy="457200"/>
          </a:xfrm>
          <a:prstGeom prst="rect">
            <a:avLst/>
          </a:prstGeom>
          <a:solidFill>
            <a:srgbClr val="07334A"/>
          </a:solidFill>
          <a:ln w="15240">
            <a:solidFill>
              <a:srgbClr val="15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28232" y="1737360"/>
            <a:ext cx="23225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6D6A0"/>
                </a:solidFill>
              </a:rPr>
              <a:t>83.7 %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823960" y="1645920"/>
            <a:ext cx="2468880" cy="457200"/>
          </a:xfrm>
          <a:prstGeom prst="rect">
            <a:avLst/>
          </a:prstGeom>
          <a:solidFill>
            <a:srgbClr val="07334A"/>
          </a:solidFill>
          <a:ln w="15240">
            <a:solidFill>
              <a:srgbClr val="15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897112" y="1737360"/>
            <a:ext cx="23225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C300"/>
                </a:solidFill>
              </a:rPr>
              <a:t>88.2 %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0040" y="2139696"/>
            <a:ext cx="1737360" cy="457200"/>
          </a:xfrm>
          <a:prstGeom prst="rect">
            <a:avLst/>
          </a:prstGeom>
          <a:solidFill>
            <a:srgbClr val="07334A"/>
          </a:solidFill>
          <a:ln w="15240">
            <a:solidFill>
              <a:srgbClr val="15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93192" y="2231136"/>
            <a:ext cx="159105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Student B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057400" y="2139696"/>
            <a:ext cx="2011680" cy="457200"/>
          </a:xfrm>
          <a:prstGeom prst="rect">
            <a:avLst/>
          </a:prstGeom>
          <a:solidFill>
            <a:srgbClr val="07334A"/>
          </a:solidFill>
          <a:ln w="15240">
            <a:solidFill>
              <a:srgbClr val="15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130552" y="2231136"/>
            <a:ext cx="18653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Low lighting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069080" y="2139696"/>
            <a:ext cx="2286000" cy="457200"/>
          </a:xfrm>
          <a:prstGeom prst="rect">
            <a:avLst/>
          </a:prstGeom>
          <a:solidFill>
            <a:srgbClr val="07334A"/>
          </a:solidFill>
          <a:ln w="15240">
            <a:solidFill>
              <a:srgbClr val="15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142232" y="2231136"/>
            <a:ext cx="21396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0B4D8"/>
                </a:solidFill>
              </a:rPr>
              <a:t>86.2 %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55080" y="2139696"/>
            <a:ext cx="2468880" cy="457200"/>
          </a:xfrm>
          <a:prstGeom prst="rect">
            <a:avLst/>
          </a:prstGeom>
          <a:solidFill>
            <a:srgbClr val="07334A"/>
          </a:solidFill>
          <a:ln w="15240">
            <a:solidFill>
              <a:srgbClr val="15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28232" y="2231136"/>
            <a:ext cx="23225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6D6A0"/>
                </a:solidFill>
              </a:rPr>
              <a:t>72.4 %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823960" y="2139696"/>
            <a:ext cx="2468880" cy="457200"/>
          </a:xfrm>
          <a:prstGeom prst="rect">
            <a:avLst/>
          </a:prstGeom>
          <a:solidFill>
            <a:srgbClr val="07334A"/>
          </a:solidFill>
          <a:ln w="15240">
            <a:solidFill>
              <a:srgbClr val="15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897112" y="2231136"/>
            <a:ext cx="23225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C300"/>
                </a:solidFill>
              </a:rPr>
              <a:t>81.5 %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20040" y="2633472"/>
            <a:ext cx="1737360" cy="457200"/>
          </a:xfrm>
          <a:prstGeom prst="rect">
            <a:avLst/>
          </a:prstGeom>
          <a:solidFill>
            <a:srgbClr val="07334A"/>
          </a:solidFill>
          <a:ln w="15240">
            <a:solidFill>
              <a:srgbClr val="15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93192" y="2724912"/>
            <a:ext cx="159105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Student C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057400" y="2633472"/>
            <a:ext cx="2011680" cy="457200"/>
          </a:xfrm>
          <a:prstGeom prst="rect">
            <a:avLst/>
          </a:prstGeom>
          <a:solidFill>
            <a:srgbClr val="07334A"/>
          </a:solidFill>
          <a:ln w="15240">
            <a:solidFill>
              <a:srgbClr val="15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130552" y="2724912"/>
            <a:ext cx="18653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Side pose (30°)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069080" y="2633472"/>
            <a:ext cx="2286000" cy="457200"/>
          </a:xfrm>
          <a:prstGeom prst="rect">
            <a:avLst/>
          </a:prstGeom>
          <a:solidFill>
            <a:srgbClr val="07334A"/>
          </a:solidFill>
          <a:ln w="15240">
            <a:solidFill>
              <a:srgbClr val="15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142232" y="2724912"/>
            <a:ext cx="21396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0B4D8"/>
                </a:solidFill>
              </a:rPr>
              <a:t>82.7 %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355080" y="2633472"/>
            <a:ext cx="2468880" cy="457200"/>
          </a:xfrm>
          <a:prstGeom prst="rect">
            <a:avLst/>
          </a:prstGeom>
          <a:solidFill>
            <a:srgbClr val="07334A"/>
          </a:solidFill>
          <a:ln w="15240">
            <a:solidFill>
              <a:srgbClr val="15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28232" y="2724912"/>
            <a:ext cx="23225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6D6A0"/>
                </a:solidFill>
              </a:rPr>
              <a:t>68.1 %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823960" y="2633472"/>
            <a:ext cx="2468880" cy="457200"/>
          </a:xfrm>
          <a:prstGeom prst="rect">
            <a:avLst/>
          </a:prstGeom>
          <a:solidFill>
            <a:srgbClr val="07334A"/>
          </a:solidFill>
          <a:ln w="15240">
            <a:solidFill>
              <a:srgbClr val="15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897112" y="2724912"/>
            <a:ext cx="23225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C300"/>
                </a:solidFill>
              </a:rPr>
              <a:t>79.3 %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20040" y="3127248"/>
            <a:ext cx="1737360" cy="457200"/>
          </a:xfrm>
          <a:prstGeom prst="rect">
            <a:avLst/>
          </a:prstGeom>
          <a:solidFill>
            <a:srgbClr val="07334A"/>
          </a:solidFill>
          <a:ln w="15240">
            <a:solidFill>
              <a:srgbClr val="15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93192" y="3218688"/>
            <a:ext cx="159105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Student D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057400" y="3127248"/>
            <a:ext cx="2011680" cy="457200"/>
          </a:xfrm>
          <a:prstGeom prst="rect">
            <a:avLst/>
          </a:prstGeom>
          <a:solidFill>
            <a:srgbClr val="07334A"/>
          </a:solidFill>
          <a:ln w="15240">
            <a:solidFill>
              <a:srgbClr val="15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130552" y="3218688"/>
            <a:ext cx="18653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Glasses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069080" y="3127248"/>
            <a:ext cx="2286000" cy="457200"/>
          </a:xfrm>
          <a:prstGeom prst="rect">
            <a:avLst/>
          </a:prstGeom>
          <a:solidFill>
            <a:srgbClr val="07334A"/>
          </a:solidFill>
          <a:ln w="15240">
            <a:solidFill>
              <a:srgbClr val="15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142232" y="3218688"/>
            <a:ext cx="21396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0B4D8"/>
                </a:solidFill>
              </a:rPr>
              <a:t>88.5 %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355080" y="3127248"/>
            <a:ext cx="2468880" cy="457200"/>
          </a:xfrm>
          <a:prstGeom prst="rect">
            <a:avLst/>
          </a:prstGeom>
          <a:solidFill>
            <a:srgbClr val="07334A"/>
          </a:solidFill>
          <a:ln w="15240">
            <a:solidFill>
              <a:srgbClr val="15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428232" y="3218688"/>
            <a:ext cx="23225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6D6A0"/>
                </a:solidFill>
              </a:rPr>
              <a:t>76.3 %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823960" y="3127248"/>
            <a:ext cx="2468880" cy="457200"/>
          </a:xfrm>
          <a:prstGeom prst="rect">
            <a:avLst/>
          </a:prstGeom>
          <a:solidFill>
            <a:srgbClr val="07334A"/>
          </a:solidFill>
          <a:ln w="15240">
            <a:solidFill>
              <a:srgbClr val="15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897112" y="3218688"/>
            <a:ext cx="23225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C300"/>
                </a:solidFill>
              </a:rPr>
              <a:t>83.9 %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20040" y="3621024"/>
            <a:ext cx="1737360" cy="457200"/>
          </a:xfrm>
          <a:prstGeom prst="rect">
            <a:avLst/>
          </a:prstGeom>
          <a:solidFill>
            <a:srgbClr val="07334A"/>
          </a:solidFill>
          <a:ln w="15240">
            <a:solidFill>
              <a:srgbClr val="15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93192" y="3712463"/>
            <a:ext cx="159105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Student E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057400" y="3621024"/>
            <a:ext cx="2011680" cy="457200"/>
          </a:xfrm>
          <a:prstGeom prst="rect">
            <a:avLst/>
          </a:prstGeom>
          <a:solidFill>
            <a:srgbClr val="07334A"/>
          </a:solidFill>
          <a:ln w="15240">
            <a:solidFill>
              <a:srgbClr val="15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2130552" y="3712463"/>
            <a:ext cx="18653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Partial occlusion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069080" y="3621024"/>
            <a:ext cx="2286000" cy="457200"/>
          </a:xfrm>
          <a:prstGeom prst="rect">
            <a:avLst/>
          </a:prstGeom>
          <a:solidFill>
            <a:srgbClr val="07334A"/>
          </a:solidFill>
          <a:ln w="15240">
            <a:solidFill>
              <a:srgbClr val="15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142232" y="3712463"/>
            <a:ext cx="21396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0B4D8"/>
                </a:solidFill>
              </a:rPr>
              <a:t>79.3 %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355080" y="3621024"/>
            <a:ext cx="2468880" cy="457200"/>
          </a:xfrm>
          <a:prstGeom prst="rect">
            <a:avLst/>
          </a:prstGeom>
          <a:solidFill>
            <a:srgbClr val="07334A"/>
          </a:solidFill>
          <a:ln w="15240">
            <a:solidFill>
              <a:srgbClr val="15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428232" y="3712463"/>
            <a:ext cx="23225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6D6A0"/>
                </a:solidFill>
              </a:rPr>
              <a:t>61.8 %</a:t>
            </a:r>
          </a:p>
        </p:txBody>
      </p:sp>
      <p:sp>
        <p:nvSpPr>
          <p:cNvPr id="65" name="Rectangle 64"/>
          <p:cNvSpPr/>
          <p:nvPr/>
        </p:nvSpPr>
        <p:spPr>
          <a:xfrm>
            <a:off x="8823960" y="3621024"/>
            <a:ext cx="2468880" cy="457200"/>
          </a:xfrm>
          <a:prstGeom prst="rect">
            <a:avLst/>
          </a:prstGeom>
          <a:solidFill>
            <a:srgbClr val="07334A"/>
          </a:solidFill>
          <a:ln w="15240">
            <a:solidFill>
              <a:srgbClr val="15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897112" y="3712463"/>
            <a:ext cx="23225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C300"/>
                </a:solidFill>
              </a:rPr>
              <a:t>74.2 %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20040" y="4114800"/>
            <a:ext cx="1737360" cy="457200"/>
          </a:xfrm>
          <a:prstGeom prst="rect">
            <a:avLst/>
          </a:prstGeom>
          <a:solidFill>
            <a:srgbClr val="07334A"/>
          </a:solidFill>
          <a:ln w="15240">
            <a:solidFill>
              <a:srgbClr val="15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93192" y="4206240"/>
            <a:ext cx="159105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Student F</a:t>
            </a:r>
          </a:p>
        </p:txBody>
      </p:sp>
      <p:sp>
        <p:nvSpPr>
          <p:cNvPr id="69" name="Rectangle 68"/>
          <p:cNvSpPr/>
          <p:nvPr/>
        </p:nvSpPr>
        <p:spPr>
          <a:xfrm>
            <a:off x="2057400" y="4114800"/>
            <a:ext cx="2011680" cy="457200"/>
          </a:xfrm>
          <a:prstGeom prst="rect">
            <a:avLst/>
          </a:prstGeom>
          <a:solidFill>
            <a:srgbClr val="07334A"/>
          </a:solidFill>
          <a:ln w="15240">
            <a:solidFill>
              <a:srgbClr val="15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130552" y="4206240"/>
            <a:ext cx="18653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Bright backlight</a:t>
            </a:r>
          </a:p>
        </p:txBody>
      </p:sp>
      <p:sp>
        <p:nvSpPr>
          <p:cNvPr id="71" name="Rectangle 70"/>
          <p:cNvSpPr/>
          <p:nvPr/>
        </p:nvSpPr>
        <p:spPr>
          <a:xfrm>
            <a:off x="4069080" y="4114800"/>
            <a:ext cx="2286000" cy="457200"/>
          </a:xfrm>
          <a:prstGeom prst="rect">
            <a:avLst/>
          </a:prstGeom>
          <a:solidFill>
            <a:srgbClr val="07334A"/>
          </a:solidFill>
          <a:ln w="15240">
            <a:solidFill>
              <a:srgbClr val="15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4142232" y="4206240"/>
            <a:ext cx="21396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0B4D8"/>
                </a:solidFill>
              </a:rPr>
              <a:t>84.1 %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355080" y="4114800"/>
            <a:ext cx="2468880" cy="457200"/>
          </a:xfrm>
          <a:prstGeom prst="rect">
            <a:avLst/>
          </a:prstGeom>
          <a:solidFill>
            <a:srgbClr val="07334A"/>
          </a:solidFill>
          <a:ln w="15240">
            <a:solidFill>
              <a:srgbClr val="15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428232" y="4206240"/>
            <a:ext cx="23225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6D6A0"/>
                </a:solidFill>
              </a:rPr>
              <a:t>69.5 %</a:t>
            </a:r>
          </a:p>
        </p:txBody>
      </p:sp>
      <p:sp>
        <p:nvSpPr>
          <p:cNvPr id="75" name="Rectangle 74"/>
          <p:cNvSpPr/>
          <p:nvPr/>
        </p:nvSpPr>
        <p:spPr>
          <a:xfrm>
            <a:off x="8823960" y="4114800"/>
            <a:ext cx="2468880" cy="457200"/>
          </a:xfrm>
          <a:prstGeom prst="rect">
            <a:avLst/>
          </a:prstGeom>
          <a:solidFill>
            <a:srgbClr val="07334A"/>
          </a:solidFill>
          <a:ln w="15240">
            <a:solidFill>
              <a:srgbClr val="15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8897112" y="4206240"/>
            <a:ext cx="23225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C300"/>
                </a:solidFill>
              </a:rPr>
              <a:t>80.6 %</a:t>
            </a:r>
          </a:p>
        </p:txBody>
      </p:sp>
      <p:sp>
        <p:nvSpPr>
          <p:cNvPr id="77" name="Rectangle 76"/>
          <p:cNvSpPr/>
          <p:nvPr/>
        </p:nvSpPr>
        <p:spPr>
          <a:xfrm>
            <a:off x="320040" y="4608576"/>
            <a:ext cx="1737360" cy="457200"/>
          </a:xfrm>
          <a:prstGeom prst="rect">
            <a:avLst/>
          </a:prstGeom>
          <a:solidFill>
            <a:srgbClr val="07334A"/>
          </a:solidFill>
          <a:ln w="15240">
            <a:solidFill>
              <a:srgbClr val="15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393192" y="4700016"/>
            <a:ext cx="159105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Student G</a:t>
            </a:r>
          </a:p>
        </p:txBody>
      </p:sp>
      <p:sp>
        <p:nvSpPr>
          <p:cNvPr id="79" name="Rectangle 78"/>
          <p:cNvSpPr/>
          <p:nvPr/>
        </p:nvSpPr>
        <p:spPr>
          <a:xfrm>
            <a:off x="2057400" y="4608576"/>
            <a:ext cx="2011680" cy="457200"/>
          </a:xfrm>
          <a:prstGeom prst="rect">
            <a:avLst/>
          </a:prstGeom>
          <a:solidFill>
            <a:srgbClr val="07334A"/>
          </a:solidFill>
          <a:ln w="15240">
            <a:solidFill>
              <a:srgbClr val="15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2130552" y="4700016"/>
            <a:ext cx="18653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Different haircut</a:t>
            </a:r>
          </a:p>
        </p:txBody>
      </p:sp>
      <p:sp>
        <p:nvSpPr>
          <p:cNvPr id="81" name="Rectangle 80"/>
          <p:cNvSpPr/>
          <p:nvPr/>
        </p:nvSpPr>
        <p:spPr>
          <a:xfrm>
            <a:off x="4069080" y="4608576"/>
            <a:ext cx="2286000" cy="457200"/>
          </a:xfrm>
          <a:prstGeom prst="rect">
            <a:avLst/>
          </a:prstGeom>
          <a:solidFill>
            <a:srgbClr val="07334A"/>
          </a:solidFill>
          <a:ln w="15240">
            <a:solidFill>
              <a:srgbClr val="15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4142232" y="4700016"/>
            <a:ext cx="21396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0B4D8"/>
                </a:solidFill>
              </a:rPr>
              <a:t>89.7 %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355080" y="4608576"/>
            <a:ext cx="2468880" cy="457200"/>
          </a:xfrm>
          <a:prstGeom prst="rect">
            <a:avLst/>
          </a:prstGeom>
          <a:solidFill>
            <a:srgbClr val="07334A"/>
          </a:solidFill>
          <a:ln w="15240">
            <a:solidFill>
              <a:srgbClr val="15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428232" y="4700016"/>
            <a:ext cx="23225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6D6A0"/>
                </a:solidFill>
              </a:rPr>
              <a:t>78.2 %</a:t>
            </a:r>
          </a:p>
        </p:txBody>
      </p:sp>
      <p:sp>
        <p:nvSpPr>
          <p:cNvPr id="85" name="Rectangle 84"/>
          <p:cNvSpPr/>
          <p:nvPr/>
        </p:nvSpPr>
        <p:spPr>
          <a:xfrm>
            <a:off x="8823960" y="4608576"/>
            <a:ext cx="2468880" cy="457200"/>
          </a:xfrm>
          <a:prstGeom prst="rect">
            <a:avLst/>
          </a:prstGeom>
          <a:solidFill>
            <a:srgbClr val="07334A"/>
          </a:solidFill>
          <a:ln w="15240">
            <a:solidFill>
              <a:srgbClr val="15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8897112" y="4700016"/>
            <a:ext cx="23225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C300"/>
                </a:solidFill>
              </a:rPr>
              <a:t>85.4 %</a:t>
            </a:r>
          </a:p>
        </p:txBody>
      </p:sp>
      <p:sp>
        <p:nvSpPr>
          <p:cNvPr id="87" name="Rectangle 86"/>
          <p:cNvSpPr/>
          <p:nvPr/>
        </p:nvSpPr>
        <p:spPr>
          <a:xfrm>
            <a:off x="320040" y="5102352"/>
            <a:ext cx="1737360" cy="457200"/>
          </a:xfrm>
          <a:prstGeom prst="rect">
            <a:avLst/>
          </a:prstGeom>
          <a:solidFill>
            <a:srgbClr val="07334A"/>
          </a:solidFill>
          <a:ln w="15240">
            <a:solidFill>
              <a:srgbClr val="15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393192" y="5193792"/>
            <a:ext cx="159105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Student H</a:t>
            </a:r>
          </a:p>
        </p:txBody>
      </p:sp>
      <p:sp>
        <p:nvSpPr>
          <p:cNvPr id="89" name="Rectangle 88"/>
          <p:cNvSpPr/>
          <p:nvPr/>
        </p:nvSpPr>
        <p:spPr>
          <a:xfrm>
            <a:off x="2057400" y="5102352"/>
            <a:ext cx="2011680" cy="457200"/>
          </a:xfrm>
          <a:prstGeom prst="rect">
            <a:avLst/>
          </a:prstGeom>
          <a:solidFill>
            <a:srgbClr val="07334A"/>
          </a:solidFill>
          <a:ln w="15240">
            <a:solidFill>
              <a:srgbClr val="15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2130552" y="5193792"/>
            <a:ext cx="18653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Emotional expression</a:t>
            </a:r>
          </a:p>
        </p:txBody>
      </p:sp>
      <p:sp>
        <p:nvSpPr>
          <p:cNvPr id="91" name="Rectangle 90"/>
          <p:cNvSpPr/>
          <p:nvPr/>
        </p:nvSpPr>
        <p:spPr>
          <a:xfrm>
            <a:off x="4069080" y="5102352"/>
            <a:ext cx="2286000" cy="457200"/>
          </a:xfrm>
          <a:prstGeom prst="rect">
            <a:avLst/>
          </a:prstGeom>
          <a:solidFill>
            <a:srgbClr val="07334A"/>
          </a:solidFill>
          <a:ln w="15240">
            <a:solidFill>
              <a:srgbClr val="15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4142232" y="5193792"/>
            <a:ext cx="21396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0B4D8"/>
                </a:solidFill>
              </a:rPr>
              <a:t>87.3 %</a:t>
            </a:r>
          </a:p>
        </p:txBody>
      </p:sp>
      <p:sp>
        <p:nvSpPr>
          <p:cNvPr id="93" name="Rectangle 92"/>
          <p:cNvSpPr/>
          <p:nvPr/>
        </p:nvSpPr>
        <p:spPr>
          <a:xfrm>
            <a:off x="6355080" y="5102352"/>
            <a:ext cx="2468880" cy="457200"/>
          </a:xfrm>
          <a:prstGeom prst="rect">
            <a:avLst/>
          </a:prstGeom>
          <a:solidFill>
            <a:srgbClr val="07334A"/>
          </a:solidFill>
          <a:ln w="15240">
            <a:solidFill>
              <a:srgbClr val="15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6428232" y="5193792"/>
            <a:ext cx="23225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6D6A0"/>
                </a:solidFill>
              </a:rPr>
              <a:t>74.9 %</a:t>
            </a:r>
          </a:p>
        </p:txBody>
      </p:sp>
      <p:sp>
        <p:nvSpPr>
          <p:cNvPr id="95" name="Rectangle 94"/>
          <p:cNvSpPr/>
          <p:nvPr/>
        </p:nvSpPr>
        <p:spPr>
          <a:xfrm>
            <a:off x="8823960" y="5102352"/>
            <a:ext cx="2468880" cy="457200"/>
          </a:xfrm>
          <a:prstGeom prst="rect">
            <a:avLst/>
          </a:prstGeom>
          <a:solidFill>
            <a:srgbClr val="07334A"/>
          </a:solidFill>
          <a:ln w="15240">
            <a:solidFill>
              <a:srgbClr val="15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8897112" y="5193792"/>
            <a:ext cx="23225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C300"/>
                </a:solidFill>
              </a:rPr>
              <a:t>82.8 %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320040" y="5596128"/>
            <a:ext cx="1737360" cy="457200"/>
          </a:xfrm>
          <a:prstGeom prst="rect">
            <a:avLst/>
          </a:prstGeom>
          <a:solidFill>
            <a:srgbClr val="0D1B2A"/>
          </a:solidFill>
          <a:ln w="1524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393192" y="5687568"/>
            <a:ext cx="159105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Average</a:t>
            </a:r>
          </a:p>
        </p:txBody>
      </p:sp>
      <p:sp>
        <p:nvSpPr>
          <p:cNvPr id="99" name="Rectangle 98"/>
          <p:cNvSpPr/>
          <p:nvPr/>
        </p:nvSpPr>
        <p:spPr>
          <a:xfrm>
            <a:off x="2057400" y="5596128"/>
            <a:ext cx="2011680" cy="457200"/>
          </a:xfrm>
          <a:prstGeom prst="rect">
            <a:avLst/>
          </a:prstGeom>
          <a:solidFill>
            <a:srgbClr val="0D1B2A"/>
          </a:solidFill>
          <a:ln w="1524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2130552" y="5687568"/>
            <a:ext cx="18653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All conditions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4069080" y="5596128"/>
            <a:ext cx="2286000" cy="457200"/>
          </a:xfrm>
          <a:prstGeom prst="rect">
            <a:avLst/>
          </a:prstGeom>
          <a:solidFill>
            <a:srgbClr val="0D1B2A"/>
          </a:solidFill>
          <a:ln w="1524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4142232" y="5687568"/>
            <a:ext cx="21396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C300"/>
                </a:solidFill>
              </a:rPr>
              <a:t>86.2 %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6355080" y="5596128"/>
            <a:ext cx="2468880" cy="457200"/>
          </a:xfrm>
          <a:prstGeom prst="rect">
            <a:avLst/>
          </a:prstGeom>
          <a:solidFill>
            <a:srgbClr val="0D1B2A"/>
          </a:solidFill>
          <a:ln w="1524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6428232" y="5687568"/>
            <a:ext cx="23225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C300"/>
                </a:solidFill>
              </a:rPr>
              <a:t>73.1 %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8823960" y="5596128"/>
            <a:ext cx="2468880" cy="457200"/>
          </a:xfrm>
          <a:prstGeom prst="rect">
            <a:avLst/>
          </a:prstGeom>
          <a:solidFill>
            <a:srgbClr val="0D1B2A"/>
          </a:solidFill>
          <a:ln w="1524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8897112" y="5687568"/>
            <a:ext cx="23225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C300"/>
                </a:solidFill>
              </a:rPr>
              <a:t>81.9 %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73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274320" y="6510528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8D8EA"/>
                </a:solidFill>
              </a:rPr>
              <a:t>GyanBrige – AI-Powered Smart Education Platform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73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88952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09728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90E0EF"/>
                </a:solidFill>
              </a:rPr>
              <a:t>Test Cases for LBPH, Eigenfaces &amp; Fisherfaces Algorithms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188720"/>
            <a:ext cx="548640" cy="438912"/>
          </a:xfrm>
          <a:prstGeom prst="rect">
            <a:avLst/>
          </a:prstGeom>
          <a:solidFill>
            <a:srgbClr val="07334A"/>
          </a:solidFill>
          <a:ln w="1524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1243584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C300"/>
                </a:solidFill>
              </a:rPr>
              <a:t>TC #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1188720"/>
            <a:ext cx="1828800" cy="438912"/>
          </a:xfrm>
          <a:prstGeom prst="rect">
            <a:avLst/>
          </a:prstGeom>
          <a:solidFill>
            <a:srgbClr val="07334A"/>
          </a:solidFill>
          <a:ln w="1524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243584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C300"/>
                </a:solidFill>
              </a:rPr>
              <a:t>Test Condition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2651760" y="1188720"/>
            <a:ext cx="2103120" cy="438912"/>
          </a:xfrm>
          <a:prstGeom prst="rect">
            <a:avLst/>
          </a:prstGeom>
          <a:solidFill>
            <a:srgbClr val="07334A"/>
          </a:solidFill>
          <a:ln w="1524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697479" y="1243584"/>
            <a:ext cx="20116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C300"/>
                </a:solidFill>
              </a:rPr>
              <a:t>Input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754880" y="1188720"/>
            <a:ext cx="2011680" cy="438912"/>
          </a:xfrm>
          <a:prstGeom prst="rect">
            <a:avLst/>
          </a:prstGeom>
          <a:solidFill>
            <a:srgbClr val="07334A"/>
          </a:solidFill>
          <a:ln w="1524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1243584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C300"/>
                </a:solidFill>
              </a:rPr>
              <a:t>Expected Output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766560" y="1188720"/>
            <a:ext cx="685800" cy="438912"/>
          </a:xfrm>
          <a:prstGeom prst="rect">
            <a:avLst/>
          </a:prstGeom>
          <a:solidFill>
            <a:srgbClr val="07334A"/>
          </a:solidFill>
          <a:ln w="1524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12280" y="1243584"/>
            <a:ext cx="594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C300"/>
                </a:solidFill>
              </a:rPr>
              <a:t>LBPH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52360" y="1188720"/>
            <a:ext cx="685800" cy="438912"/>
          </a:xfrm>
          <a:prstGeom prst="rect">
            <a:avLst/>
          </a:prstGeom>
          <a:solidFill>
            <a:srgbClr val="07334A"/>
          </a:solidFill>
          <a:ln w="1524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80" y="1243584"/>
            <a:ext cx="594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C300"/>
                </a:solidFill>
              </a:rPr>
              <a:t>Eigen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38160" y="1188720"/>
            <a:ext cx="685800" cy="438912"/>
          </a:xfrm>
          <a:prstGeom prst="rect">
            <a:avLst/>
          </a:prstGeom>
          <a:solidFill>
            <a:srgbClr val="07334A"/>
          </a:solidFill>
          <a:ln w="1524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83880" y="1243584"/>
            <a:ext cx="594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C300"/>
                </a:solidFill>
              </a:rPr>
              <a:t>Fisher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823960" y="1188720"/>
            <a:ext cx="594360" cy="438912"/>
          </a:xfrm>
          <a:prstGeom prst="rect">
            <a:avLst/>
          </a:prstGeom>
          <a:solidFill>
            <a:srgbClr val="07334A"/>
          </a:solidFill>
          <a:ln w="1524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69680" y="1243584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C300"/>
                </a:solidFill>
              </a:rPr>
              <a:t>Status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1627632"/>
            <a:ext cx="548640" cy="521207"/>
          </a:xfrm>
          <a:prstGeom prst="rect">
            <a:avLst/>
          </a:prstGeom>
          <a:solidFill>
            <a:srgbClr val="07334A"/>
          </a:solidFill>
          <a:ln w="15240">
            <a:solidFill>
              <a:srgbClr val="15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20040" y="1719072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TC-01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2960" y="1627632"/>
            <a:ext cx="1828800" cy="521207"/>
          </a:xfrm>
          <a:prstGeom prst="rect">
            <a:avLst/>
          </a:prstGeom>
          <a:solidFill>
            <a:srgbClr val="07334A"/>
          </a:solidFill>
          <a:ln w="15240">
            <a:solidFill>
              <a:srgbClr val="15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8680" y="1719072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Known face, normal light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651760" y="1627632"/>
            <a:ext cx="2103120" cy="521207"/>
          </a:xfrm>
          <a:prstGeom prst="rect">
            <a:avLst/>
          </a:prstGeom>
          <a:solidFill>
            <a:srgbClr val="07334A"/>
          </a:solidFill>
          <a:ln w="15240">
            <a:solidFill>
              <a:srgbClr val="15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697479" y="1719072"/>
            <a:ext cx="20116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Registered face image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754880" y="1627632"/>
            <a:ext cx="2011680" cy="521207"/>
          </a:xfrm>
          <a:prstGeom prst="rect">
            <a:avLst/>
          </a:prstGeom>
          <a:solidFill>
            <a:srgbClr val="07334A"/>
          </a:solidFill>
          <a:ln w="15240">
            <a:solidFill>
              <a:srgbClr val="15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800600" y="1719072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Correct identification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766560" y="1627632"/>
            <a:ext cx="685800" cy="521207"/>
          </a:xfrm>
          <a:prstGeom prst="rect">
            <a:avLst/>
          </a:prstGeom>
          <a:solidFill>
            <a:srgbClr val="07334A"/>
          </a:solidFill>
          <a:ln w="15240">
            <a:solidFill>
              <a:srgbClr val="15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12280" y="1719072"/>
            <a:ext cx="594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6D6A0"/>
                </a:solidFill>
              </a:rPr>
              <a:t>PASS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452360" y="1627632"/>
            <a:ext cx="685800" cy="521207"/>
          </a:xfrm>
          <a:prstGeom prst="rect">
            <a:avLst/>
          </a:prstGeom>
          <a:solidFill>
            <a:srgbClr val="07334A"/>
          </a:solidFill>
          <a:ln w="15240">
            <a:solidFill>
              <a:srgbClr val="15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498080" y="1719072"/>
            <a:ext cx="594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6D6A0"/>
                </a:solidFill>
              </a:rPr>
              <a:t>PASS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138160" y="1627632"/>
            <a:ext cx="685800" cy="521207"/>
          </a:xfrm>
          <a:prstGeom prst="rect">
            <a:avLst/>
          </a:prstGeom>
          <a:solidFill>
            <a:srgbClr val="07334A"/>
          </a:solidFill>
          <a:ln w="15240">
            <a:solidFill>
              <a:srgbClr val="15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183880" y="1719072"/>
            <a:ext cx="594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6D6A0"/>
                </a:solidFill>
              </a:rPr>
              <a:t>PASS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823960" y="1627632"/>
            <a:ext cx="594360" cy="521207"/>
          </a:xfrm>
          <a:prstGeom prst="rect">
            <a:avLst/>
          </a:prstGeom>
          <a:solidFill>
            <a:srgbClr val="07334A"/>
          </a:solidFill>
          <a:ln w="15240">
            <a:solidFill>
              <a:srgbClr val="15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869680" y="1719072"/>
            <a:ext cx="502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6D6A0"/>
                </a:solidFill>
              </a:rPr>
              <a:t>✓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74320" y="2203704"/>
            <a:ext cx="548640" cy="521207"/>
          </a:xfrm>
          <a:prstGeom prst="rect">
            <a:avLst/>
          </a:prstGeom>
          <a:solidFill>
            <a:srgbClr val="0A253C"/>
          </a:solidFill>
          <a:ln w="15240">
            <a:solidFill>
              <a:srgbClr val="15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20040" y="2295144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TC-02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22960" y="2203704"/>
            <a:ext cx="1828800" cy="521207"/>
          </a:xfrm>
          <a:prstGeom prst="rect">
            <a:avLst/>
          </a:prstGeom>
          <a:solidFill>
            <a:srgbClr val="0A253C"/>
          </a:solidFill>
          <a:ln w="15240">
            <a:solidFill>
              <a:srgbClr val="15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68680" y="2295144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Unknown face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651760" y="2203704"/>
            <a:ext cx="2103120" cy="521207"/>
          </a:xfrm>
          <a:prstGeom prst="rect">
            <a:avLst/>
          </a:prstGeom>
          <a:solidFill>
            <a:srgbClr val="0A253C"/>
          </a:solidFill>
          <a:ln w="15240">
            <a:solidFill>
              <a:srgbClr val="15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697479" y="2295144"/>
            <a:ext cx="20116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Unregistered image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754880" y="2203704"/>
            <a:ext cx="2011680" cy="521207"/>
          </a:xfrm>
          <a:prstGeom prst="rect">
            <a:avLst/>
          </a:prstGeom>
          <a:solidFill>
            <a:srgbClr val="0A253C"/>
          </a:solidFill>
          <a:ln w="15240">
            <a:solidFill>
              <a:srgbClr val="15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800600" y="2295144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Reject (threshold)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766560" y="2203704"/>
            <a:ext cx="685800" cy="521207"/>
          </a:xfrm>
          <a:prstGeom prst="rect">
            <a:avLst/>
          </a:prstGeom>
          <a:solidFill>
            <a:srgbClr val="0A253C"/>
          </a:solidFill>
          <a:ln w="15240">
            <a:solidFill>
              <a:srgbClr val="15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812280" y="2295144"/>
            <a:ext cx="594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6D6A0"/>
                </a:solidFill>
              </a:rPr>
              <a:t>PASS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452360" y="2203704"/>
            <a:ext cx="685800" cy="521207"/>
          </a:xfrm>
          <a:prstGeom prst="rect">
            <a:avLst/>
          </a:prstGeom>
          <a:solidFill>
            <a:srgbClr val="0A253C"/>
          </a:solidFill>
          <a:ln w="15240">
            <a:solidFill>
              <a:srgbClr val="15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498080" y="2295144"/>
            <a:ext cx="594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6D6A0"/>
                </a:solidFill>
              </a:rPr>
              <a:t>PASS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138160" y="2203704"/>
            <a:ext cx="685800" cy="521207"/>
          </a:xfrm>
          <a:prstGeom prst="rect">
            <a:avLst/>
          </a:prstGeom>
          <a:solidFill>
            <a:srgbClr val="0A253C"/>
          </a:solidFill>
          <a:ln w="15240">
            <a:solidFill>
              <a:srgbClr val="15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183880" y="2295144"/>
            <a:ext cx="594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6D6A0"/>
                </a:solidFill>
              </a:rPr>
              <a:t>PASS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823960" y="2203704"/>
            <a:ext cx="594360" cy="521207"/>
          </a:xfrm>
          <a:prstGeom prst="rect">
            <a:avLst/>
          </a:prstGeom>
          <a:solidFill>
            <a:srgbClr val="0A253C"/>
          </a:solidFill>
          <a:ln w="15240">
            <a:solidFill>
              <a:srgbClr val="15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869680" y="2295144"/>
            <a:ext cx="502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6D6A0"/>
                </a:solidFill>
              </a:rPr>
              <a:t>✓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74320" y="2779776"/>
            <a:ext cx="548640" cy="521207"/>
          </a:xfrm>
          <a:prstGeom prst="rect">
            <a:avLst/>
          </a:prstGeom>
          <a:solidFill>
            <a:srgbClr val="07334A"/>
          </a:solidFill>
          <a:ln w="15240">
            <a:solidFill>
              <a:srgbClr val="15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20040" y="2871216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TC-03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22960" y="2779776"/>
            <a:ext cx="1828800" cy="521207"/>
          </a:xfrm>
          <a:prstGeom prst="rect">
            <a:avLst/>
          </a:prstGeom>
          <a:solidFill>
            <a:srgbClr val="07334A"/>
          </a:solidFill>
          <a:ln w="15240">
            <a:solidFill>
              <a:srgbClr val="15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68680" y="2871216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Low lighting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651760" y="2779776"/>
            <a:ext cx="2103120" cy="521207"/>
          </a:xfrm>
          <a:prstGeom prst="rect">
            <a:avLst/>
          </a:prstGeom>
          <a:solidFill>
            <a:srgbClr val="07334A"/>
          </a:solidFill>
          <a:ln w="15240">
            <a:solidFill>
              <a:srgbClr val="15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697479" y="2871216"/>
            <a:ext cx="20116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Dark face image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754880" y="2779776"/>
            <a:ext cx="2011680" cy="521207"/>
          </a:xfrm>
          <a:prstGeom prst="rect">
            <a:avLst/>
          </a:prstGeom>
          <a:solidFill>
            <a:srgbClr val="07334A"/>
          </a:solidFill>
          <a:ln w="15240">
            <a:solidFill>
              <a:srgbClr val="15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800600" y="2871216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Correct / near-correct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766560" y="2779776"/>
            <a:ext cx="685800" cy="521207"/>
          </a:xfrm>
          <a:prstGeom prst="rect">
            <a:avLst/>
          </a:prstGeom>
          <a:solidFill>
            <a:srgbClr val="07334A"/>
          </a:solidFill>
          <a:ln w="15240">
            <a:solidFill>
              <a:srgbClr val="15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812280" y="2871216"/>
            <a:ext cx="594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6D6A0"/>
                </a:solidFill>
              </a:rPr>
              <a:t>PASS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452360" y="2779776"/>
            <a:ext cx="685800" cy="521207"/>
          </a:xfrm>
          <a:prstGeom prst="rect">
            <a:avLst/>
          </a:prstGeom>
          <a:solidFill>
            <a:srgbClr val="07334A"/>
          </a:solidFill>
          <a:ln w="15240">
            <a:solidFill>
              <a:srgbClr val="15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498080" y="2871216"/>
            <a:ext cx="594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F476F"/>
                </a:solidFill>
              </a:rPr>
              <a:t>FAIL</a:t>
            </a:r>
          </a:p>
        </p:txBody>
      </p:sp>
      <p:sp>
        <p:nvSpPr>
          <p:cNvPr id="66" name="Rectangle 65"/>
          <p:cNvSpPr/>
          <p:nvPr/>
        </p:nvSpPr>
        <p:spPr>
          <a:xfrm>
            <a:off x="8138160" y="2779776"/>
            <a:ext cx="685800" cy="521207"/>
          </a:xfrm>
          <a:prstGeom prst="rect">
            <a:avLst/>
          </a:prstGeom>
          <a:solidFill>
            <a:srgbClr val="07334A"/>
          </a:solidFill>
          <a:ln w="15240">
            <a:solidFill>
              <a:srgbClr val="15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8183880" y="2871216"/>
            <a:ext cx="594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6D6A0"/>
                </a:solidFill>
              </a:rPr>
              <a:t>PASS</a:t>
            </a:r>
          </a:p>
        </p:txBody>
      </p:sp>
      <p:sp>
        <p:nvSpPr>
          <p:cNvPr id="68" name="Rectangle 67"/>
          <p:cNvSpPr/>
          <p:nvPr/>
        </p:nvSpPr>
        <p:spPr>
          <a:xfrm>
            <a:off x="8823960" y="2779776"/>
            <a:ext cx="594360" cy="521207"/>
          </a:xfrm>
          <a:prstGeom prst="rect">
            <a:avLst/>
          </a:prstGeom>
          <a:solidFill>
            <a:srgbClr val="07334A"/>
          </a:solidFill>
          <a:ln w="15240">
            <a:solidFill>
              <a:srgbClr val="15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8869680" y="2871216"/>
            <a:ext cx="502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C300"/>
                </a:solidFill>
              </a:rPr>
              <a:t>~</a:t>
            </a:r>
          </a:p>
        </p:txBody>
      </p:sp>
      <p:sp>
        <p:nvSpPr>
          <p:cNvPr id="70" name="Rectangle 69"/>
          <p:cNvSpPr/>
          <p:nvPr/>
        </p:nvSpPr>
        <p:spPr>
          <a:xfrm>
            <a:off x="274320" y="3355848"/>
            <a:ext cx="548640" cy="521207"/>
          </a:xfrm>
          <a:prstGeom prst="rect">
            <a:avLst/>
          </a:prstGeom>
          <a:solidFill>
            <a:srgbClr val="0A253C"/>
          </a:solidFill>
          <a:ln w="15240">
            <a:solidFill>
              <a:srgbClr val="15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20040" y="3447288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TC-04</a:t>
            </a:r>
          </a:p>
        </p:txBody>
      </p:sp>
      <p:sp>
        <p:nvSpPr>
          <p:cNvPr id="72" name="Rectangle 71"/>
          <p:cNvSpPr/>
          <p:nvPr/>
        </p:nvSpPr>
        <p:spPr>
          <a:xfrm>
            <a:off x="822960" y="3355848"/>
            <a:ext cx="1828800" cy="521207"/>
          </a:xfrm>
          <a:prstGeom prst="rect">
            <a:avLst/>
          </a:prstGeom>
          <a:solidFill>
            <a:srgbClr val="0A253C"/>
          </a:solidFill>
          <a:ln w="15240">
            <a:solidFill>
              <a:srgbClr val="15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868680" y="3447288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Side pose 30°</a:t>
            </a:r>
          </a:p>
        </p:txBody>
      </p:sp>
      <p:sp>
        <p:nvSpPr>
          <p:cNvPr id="74" name="Rectangle 73"/>
          <p:cNvSpPr/>
          <p:nvPr/>
        </p:nvSpPr>
        <p:spPr>
          <a:xfrm>
            <a:off x="2651760" y="3355848"/>
            <a:ext cx="2103120" cy="521207"/>
          </a:xfrm>
          <a:prstGeom prst="rect">
            <a:avLst/>
          </a:prstGeom>
          <a:solidFill>
            <a:srgbClr val="0A253C"/>
          </a:solidFill>
          <a:ln w="15240">
            <a:solidFill>
              <a:srgbClr val="15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2697479" y="3447288"/>
            <a:ext cx="20116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Profile face</a:t>
            </a:r>
          </a:p>
        </p:txBody>
      </p:sp>
      <p:sp>
        <p:nvSpPr>
          <p:cNvPr id="76" name="Rectangle 75"/>
          <p:cNvSpPr/>
          <p:nvPr/>
        </p:nvSpPr>
        <p:spPr>
          <a:xfrm>
            <a:off x="4754880" y="3355848"/>
            <a:ext cx="2011680" cy="521207"/>
          </a:xfrm>
          <a:prstGeom prst="rect">
            <a:avLst/>
          </a:prstGeom>
          <a:solidFill>
            <a:srgbClr val="0A253C"/>
          </a:solidFill>
          <a:ln w="15240">
            <a:solidFill>
              <a:srgbClr val="15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4800600" y="3447288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Correct identification</a:t>
            </a:r>
          </a:p>
        </p:txBody>
      </p:sp>
      <p:sp>
        <p:nvSpPr>
          <p:cNvPr id="78" name="Rectangle 77"/>
          <p:cNvSpPr/>
          <p:nvPr/>
        </p:nvSpPr>
        <p:spPr>
          <a:xfrm>
            <a:off x="6766560" y="3355848"/>
            <a:ext cx="685800" cy="521207"/>
          </a:xfrm>
          <a:prstGeom prst="rect">
            <a:avLst/>
          </a:prstGeom>
          <a:solidFill>
            <a:srgbClr val="0A253C"/>
          </a:solidFill>
          <a:ln w="15240">
            <a:solidFill>
              <a:srgbClr val="15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812280" y="3447288"/>
            <a:ext cx="594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6D6A0"/>
                </a:solidFill>
              </a:rPr>
              <a:t>PASS</a:t>
            </a:r>
          </a:p>
        </p:txBody>
      </p:sp>
      <p:sp>
        <p:nvSpPr>
          <p:cNvPr id="80" name="Rectangle 79"/>
          <p:cNvSpPr/>
          <p:nvPr/>
        </p:nvSpPr>
        <p:spPr>
          <a:xfrm>
            <a:off x="7452360" y="3355848"/>
            <a:ext cx="685800" cy="521207"/>
          </a:xfrm>
          <a:prstGeom prst="rect">
            <a:avLst/>
          </a:prstGeom>
          <a:solidFill>
            <a:srgbClr val="0A253C"/>
          </a:solidFill>
          <a:ln w="15240">
            <a:solidFill>
              <a:srgbClr val="15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7498080" y="3447288"/>
            <a:ext cx="594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F476F"/>
                </a:solidFill>
              </a:rPr>
              <a:t>FAIL</a:t>
            </a:r>
          </a:p>
        </p:txBody>
      </p:sp>
      <p:sp>
        <p:nvSpPr>
          <p:cNvPr id="82" name="Rectangle 81"/>
          <p:cNvSpPr/>
          <p:nvPr/>
        </p:nvSpPr>
        <p:spPr>
          <a:xfrm>
            <a:off x="8138160" y="3355848"/>
            <a:ext cx="685800" cy="521207"/>
          </a:xfrm>
          <a:prstGeom prst="rect">
            <a:avLst/>
          </a:prstGeom>
          <a:solidFill>
            <a:srgbClr val="0A253C"/>
          </a:solidFill>
          <a:ln w="15240">
            <a:solidFill>
              <a:srgbClr val="15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8183880" y="3447288"/>
            <a:ext cx="594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6D6A0"/>
                </a:solidFill>
              </a:rPr>
              <a:t>PASS</a:t>
            </a:r>
          </a:p>
        </p:txBody>
      </p:sp>
      <p:sp>
        <p:nvSpPr>
          <p:cNvPr id="84" name="Rectangle 83"/>
          <p:cNvSpPr/>
          <p:nvPr/>
        </p:nvSpPr>
        <p:spPr>
          <a:xfrm>
            <a:off x="8823960" y="3355848"/>
            <a:ext cx="594360" cy="521207"/>
          </a:xfrm>
          <a:prstGeom prst="rect">
            <a:avLst/>
          </a:prstGeom>
          <a:solidFill>
            <a:srgbClr val="0A253C"/>
          </a:solidFill>
          <a:ln w="15240">
            <a:solidFill>
              <a:srgbClr val="15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8869680" y="3447288"/>
            <a:ext cx="502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C300"/>
                </a:solidFill>
              </a:rPr>
              <a:t>~</a:t>
            </a:r>
          </a:p>
        </p:txBody>
      </p:sp>
      <p:sp>
        <p:nvSpPr>
          <p:cNvPr id="86" name="Rectangle 85"/>
          <p:cNvSpPr/>
          <p:nvPr/>
        </p:nvSpPr>
        <p:spPr>
          <a:xfrm>
            <a:off x="274320" y="3931920"/>
            <a:ext cx="548640" cy="521207"/>
          </a:xfrm>
          <a:prstGeom prst="rect">
            <a:avLst/>
          </a:prstGeom>
          <a:solidFill>
            <a:srgbClr val="07334A"/>
          </a:solidFill>
          <a:ln w="15240">
            <a:solidFill>
              <a:srgbClr val="15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320040" y="4023359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TC-05</a:t>
            </a:r>
          </a:p>
        </p:txBody>
      </p:sp>
      <p:sp>
        <p:nvSpPr>
          <p:cNvPr id="88" name="Rectangle 87"/>
          <p:cNvSpPr/>
          <p:nvPr/>
        </p:nvSpPr>
        <p:spPr>
          <a:xfrm>
            <a:off x="822960" y="3931920"/>
            <a:ext cx="1828800" cy="521207"/>
          </a:xfrm>
          <a:prstGeom prst="rect">
            <a:avLst/>
          </a:prstGeom>
          <a:solidFill>
            <a:srgbClr val="07334A"/>
          </a:solidFill>
          <a:ln w="15240">
            <a:solidFill>
              <a:srgbClr val="15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868680" y="4023359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Wearing glasses</a:t>
            </a:r>
          </a:p>
        </p:txBody>
      </p:sp>
      <p:sp>
        <p:nvSpPr>
          <p:cNvPr id="90" name="Rectangle 89"/>
          <p:cNvSpPr/>
          <p:nvPr/>
        </p:nvSpPr>
        <p:spPr>
          <a:xfrm>
            <a:off x="2651760" y="3931920"/>
            <a:ext cx="2103120" cy="521207"/>
          </a:xfrm>
          <a:prstGeom prst="rect">
            <a:avLst/>
          </a:prstGeom>
          <a:solidFill>
            <a:srgbClr val="07334A"/>
          </a:solidFill>
          <a:ln w="15240">
            <a:solidFill>
              <a:srgbClr val="15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2697479" y="4023359"/>
            <a:ext cx="20116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Face with spectacles</a:t>
            </a:r>
          </a:p>
        </p:txBody>
      </p:sp>
      <p:sp>
        <p:nvSpPr>
          <p:cNvPr id="92" name="Rectangle 91"/>
          <p:cNvSpPr/>
          <p:nvPr/>
        </p:nvSpPr>
        <p:spPr>
          <a:xfrm>
            <a:off x="4754880" y="3931920"/>
            <a:ext cx="2011680" cy="521207"/>
          </a:xfrm>
          <a:prstGeom prst="rect">
            <a:avLst/>
          </a:prstGeom>
          <a:solidFill>
            <a:srgbClr val="07334A"/>
          </a:solidFill>
          <a:ln w="15240">
            <a:solidFill>
              <a:srgbClr val="15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4800600" y="4023359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Correct identification</a:t>
            </a:r>
          </a:p>
        </p:txBody>
      </p:sp>
      <p:sp>
        <p:nvSpPr>
          <p:cNvPr id="94" name="Rectangle 93"/>
          <p:cNvSpPr/>
          <p:nvPr/>
        </p:nvSpPr>
        <p:spPr>
          <a:xfrm>
            <a:off x="6766560" y="3931920"/>
            <a:ext cx="685800" cy="521207"/>
          </a:xfrm>
          <a:prstGeom prst="rect">
            <a:avLst/>
          </a:prstGeom>
          <a:solidFill>
            <a:srgbClr val="07334A"/>
          </a:solidFill>
          <a:ln w="15240">
            <a:solidFill>
              <a:srgbClr val="15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6812280" y="4023359"/>
            <a:ext cx="594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6D6A0"/>
                </a:solidFill>
              </a:rPr>
              <a:t>PASS</a:t>
            </a:r>
          </a:p>
        </p:txBody>
      </p:sp>
      <p:sp>
        <p:nvSpPr>
          <p:cNvPr id="96" name="Rectangle 95"/>
          <p:cNvSpPr/>
          <p:nvPr/>
        </p:nvSpPr>
        <p:spPr>
          <a:xfrm>
            <a:off x="7452360" y="3931920"/>
            <a:ext cx="685800" cy="521207"/>
          </a:xfrm>
          <a:prstGeom prst="rect">
            <a:avLst/>
          </a:prstGeom>
          <a:solidFill>
            <a:srgbClr val="07334A"/>
          </a:solidFill>
          <a:ln w="15240">
            <a:solidFill>
              <a:srgbClr val="15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7498080" y="4023359"/>
            <a:ext cx="594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6D6A0"/>
                </a:solidFill>
              </a:rPr>
              <a:t>PASS</a:t>
            </a:r>
          </a:p>
        </p:txBody>
      </p:sp>
      <p:sp>
        <p:nvSpPr>
          <p:cNvPr id="98" name="Rectangle 97"/>
          <p:cNvSpPr/>
          <p:nvPr/>
        </p:nvSpPr>
        <p:spPr>
          <a:xfrm>
            <a:off x="8138160" y="3931920"/>
            <a:ext cx="685800" cy="521207"/>
          </a:xfrm>
          <a:prstGeom prst="rect">
            <a:avLst/>
          </a:prstGeom>
          <a:solidFill>
            <a:srgbClr val="07334A"/>
          </a:solidFill>
          <a:ln w="15240">
            <a:solidFill>
              <a:srgbClr val="15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8183880" y="4023359"/>
            <a:ext cx="594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6D6A0"/>
                </a:solidFill>
              </a:rPr>
              <a:t>PASS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8823960" y="3931920"/>
            <a:ext cx="594360" cy="521207"/>
          </a:xfrm>
          <a:prstGeom prst="rect">
            <a:avLst/>
          </a:prstGeom>
          <a:solidFill>
            <a:srgbClr val="07334A"/>
          </a:solidFill>
          <a:ln w="15240">
            <a:solidFill>
              <a:srgbClr val="15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8869680" y="4023359"/>
            <a:ext cx="502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6D6A0"/>
                </a:solidFill>
              </a:rPr>
              <a:t>✓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274320" y="4507992"/>
            <a:ext cx="548640" cy="521207"/>
          </a:xfrm>
          <a:prstGeom prst="rect">
            <a:avLst/>
          </a:prstGeom>
          <a:solidFill>
            <a:srgbClr val="0A253C"/>
          </a:solidFill>
          <a:ln w="15240">
            <a:solidFill>
              <a:srgbClr val="15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320040" y="4599431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TC-06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822960" y="4507992"/>
            <a:ext cx="1828800" cy="521207"/>
          </a:xfrm>
          <a:prstGeom prst="rect">
            <a:avLst/>
          </a:prstGeom>
          <a:solidFill>
            <a:srgbClr val="0A253C"/>
          </a:solidFill>
          <a:ln w="15240">
            <a:solidFill>
              <a:srgbClr val="15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868680" y="4599431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Partial occlusion (mask)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2651760" y="4507992"/>
            <a:ext cx="2103120" cy="521207"/>
          </a:xfrm>
          <a:prstGeom prst="rect">
            <a:avLst/>
          </a:prstGeom>
          <a:solidFill>
            <a:srgbClr val="0A253C"/>
          </a:solidFill>
          <a:ln w="15240">
            <a:solidFill>
              <a:srgbClr val="15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2697479" y="4599431"/>
            <a:ext cx="20116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Half-covered face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4754880" y="4507992"/>
            <a:ext cx="2011680" cy="521207"/>
          </a:xfrm>
          <a:prstGeom prst="rect">
            <a:avLst/>
          </a:prstGeom>
          <a:solidFill>
            <a:srgbClr val="0A253C"/>
          </a:solidFill>
          <a:ln w="15240">
            <a:solidFill>
              <a:srgbClr val="15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4800600" y="4599431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Low confidence / reject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6766560" y="4507992"/>
            <a:ext cx="685800" cy="521207"/>
          </a:xfrm>
          <a:prstGeom prst="rect">
            <a:avLst/>
          </a:prstGeom>
          <a:solidFill>
            <a:srgbClr val="0A253C"/>
          </a:solidFill>
          <a:ln w="15240">
            <a:solidFill>
              <a:srgbClr val="15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6812280" y="4599431"/>
            <a:ext cx="594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6D6A0"/>
                </a:solidFill>
              </a:rPr>
              <a:t>PASS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7452360" y="4507992"/>
            <a:ext cx="685800" cy="521207"/>
          </a:xfrm>
          <a:prstGeom prst="rect">
            <a:avLst/>
          </a:prstGeom>
          <a:solidFill>
            <a:srgbClr val="0A253C"/>
          </a:solidFill>
          <a:ln w="15240">
            <a:solidFill>
              <a:srgbClr val="15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7498080" y="4599431"/>
            <a:ext cx="594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F476F"/>
                </a:solidFill>
              </a:rPr>
              <a:t>FAIL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8138160" y="4507992"/>
            <a:ext cx="685800" cy="521207"/>
          </a:xfrm>
          <a:prstGeom prst="rect">
            <a:avLst/>
          </a:prstGeom>
          <a:solidFill>
            <a:srgbClr val="0A253C"/>
          </a:solidFill>
          <a:ln w="15240">
            <a:solidFill>
              <a:srgbClr val="15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8183880" y="4599431"/>
            <a:ext cx="594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6D6A0"/>
                </a:solidFill>
              </a:rPr>
              <a:t>PASS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8823960" y="4507992"/>
            <a:ext cx="594360" cy="521207"/>
          </a:xfrm>
          <a:prstGeom prst="rect">
            <a:avLst/>
          </a:prstGeom>
          <a:solidFill>
            <a:srgbClr val="0A253C"/>
          </a:solidFill>
          <a:ln w="15240">
            <a:solidFill>
              <a:srgbClr val="15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8869680" y="4599431"/>
            <a:ext cx="502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C300"/>
                </a:solidFill>
              </a:rPr>
              <a:t>~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274320" y="5084064"/>
            <a:ext cx="548640" cy="521207"/>
          </a:xfrm>
          <a:prstGeom prst="rect">
            <a:avLst/>
          </a:prstGeom>
          <a:solidFill>
            <a:srgbClr val="07334A"/>
          </a:solidFill>
          <a:ln w="15240">
            <a:solidFill>
              <a:srgbClr val="15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320040" y="5175504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TC-07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822960" y="5084064"/>
            <a:ext cx="1828800" cy="521207"/>
          </a:xfrm>
          <a:prstGeom prst="rect">
            <a:avLst/>
          </a:prstGeom>
          <a:solidFill>
            <a:srgbClr val="07334A"/>
          </a:solidFill>
          <a:ln w="15240">
            <a:solidFill>
              <a:srgbClr val="15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868680" y="5175504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Multiple faces in frame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2651760" y="5084064"/>
            <a:ext cx="2103120" cy="521207"/>
          </a:xfrm>
          <a:prstGeom prst="rect">
            <a:avLst/>
          </a:prstGeom>
          <a:solidFill>
            <a:srgbClr val="07334A"/>
          </a:solidFill>
          <a:ln w="15240">
            <a:solidFill>
              <a:srgbClr val="15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2697479" y="5175504"/>
            <a:ext cx="20116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Group photo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4754880" y="5084064"/>
            <a:ext cx="2011680" cy="521207"/>
          </a:xfrm>
          <a:prstGeom prst="rect">
            <a:avLst/>
          </a:prstGeom>
          <a:solidFill>
            <a:srgbClr val="07334A"/>
          </a:solidFill>
          <a:ln w="15240">
            <a:solidFill>
              <a:srgbClr val="15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4800600" y="5175504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Identify all enrolled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6766560" y="5084064"/>
            <a:ext cx="685800" cy="521207"/>
          </a:xfrm>
          <a:prstGeom prst="rect">
            <a:avLst/>
          </a:prstGeom>
          <a:solidFill>
            <a:srgbClr val="07334A"/>
          </a:solidFill>
          <a:ln w="15240">
            <a:solidFill>
              <a:srgbClr val="15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6812280" y="5175504"/>
            <a:ext cx="594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6D6A0"/>
                </a:solidFill>
              </a:rPr>
              <a:t>PASS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7452360" y="5084064"/>
            <a:ext cx="685800" cy="521207"/>
          </a:xfrm>
          <a:prstGeom prst="rect">
            <a:avLst/>
          </a:prstGeom>
          <a:solidFill>
            <a:srgbClr val="07334A"/>
          </a:solidFill>
          <a:ln w="15240">
            <a:solidFill>
              <a:srgbClr val="15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7498080" y="5175504"/>
            <a:ext cx="594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6D6A0"/>
                </a:solidFill>
              </a:rPr>
              <a:t>PASS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8138160" y="5084064"/>
            <a:ext cx="685800" cy="521207"/>
          </a:xfrm>
          <a:prstGeom prst="rect">
            <a:avLst/>
          </a:prstGeom>
          <a:solidFill>
            <a:srgbClr val="07334A"/>
          </a:solidFill>
          <a:ln w="15240">
            <a:solidFill>
              <a:srgbClr val="15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8183880" y="5175504"/>
            <a:ext cx="594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6D6A0"/>
                </a:solidFill>
              </a:rPr>
              <a:t>PASS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8823960" y="5084064"/>
            <a:ext cx="594360" cy="521207"/>
          </a:xfrm>
          <a:prstGeom prst="rect">
            <a:avLst/>
          </a:prstGeom>
          <a:solidFill>
            <a:srgbClr val="07334A"/>
          </a:solidFill>
          <a:ln w="15240">
            <a:solidFill>
              <a:srgbClr val="15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8869680" y="5175504"/>
            <a:ext cx="502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6D6A0"/>
                </a:solidFill>
              </a:rPr>
              <a:t>✓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274320" y="5660136"/>
            <a:ext cx="548640" cy="521207"/>
          </a:xfrm>
          <a:prstGeom prst="rect">
            <a:avLst/>
          </a:prstGeom>
          <a:solidFill>
            <a:srgbClr val="0A253C"/>
          </a:solidFill>
          <a:ln w="15240">
            <a:solidFill>
              <a:srgbClr val="15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320040" y="5751576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TC-08</a:t>
            </a:r>
          </a:p>
        </p:txBody>
      </p:sp>
      <p:sp>
        <p:nvSpPr>
          <p:cNvPr id="136" name="Rectangle 135"/>
          <p:cNvSpPr/>
          <p:nvPr/>
        </p:nvSpPr>
        <p:spPr>
          <a:xfrm>
            <a:off x="822960" y="5660136"/>
            <a:ext cx="1828800" cy="521207"/>
          </a:xfrm>
          <a:prstGeom prst="rect">
            <a:avLst/>
          </a:prstGeom>
          <a:solidFill>
            <a:srgbClr val="0A253C"/>
          </a:solidFill>
          <a:ln w="15240">
            <a:solidFill>
              <a:srgbClr val="15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868680" y="5751576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Empty frame (no face)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2651760" y="5660136"/>
            <a:ext cx="2103120" cy="521207"/>
          </a:xfrm>
          <a:prstGeom prst="rect">
            <a:avLst/>
          </a:prstGeom>
          <a:solidFill>
            <a:srgbClr val="0A253C"/>
          </a:solidFill>
          <a:ln w="15240">
            <a:solidFill>
              <a:srgbClr val="15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2697479" y="5751576"/>
            <a:ext cx="20116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Black / blank image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4754880" y="5660136"/>
            <a:ext cx="2011680" cy="521207"/>
          </a:xfrm>
          <a:prstGeom prst="rect">
            <a:avLst/>
          </a:prstGeom>
          <a:solidFill>
            <a:srgbClr val="0A253C"/>
          </a:solidFill>
          <a:ln w="15240">
            <a:solidFill>
              <a:srgbClr val="15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4800600" y="5751576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No detection error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6766560" y="5660136"/>
            <a:ext cx="685800" cy="521207"/>
          </a:xfrm>
          <a:prstGeom prst="rect">
            <a:avLst/>
          </a:prstGeom>
          <a:solidFill>
            <a:srgbClr val="0A253C"/>
          </a:solidFill>
          <a:ln w="15240">
            <a:solidFill>
              <a:srgbClr val="15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TextBox 142"/>
          <p:cNvSpPr txBox="1"/>
          <p:nvPr/>
        </p:nvSpPr>
        <p:spPr>
          <a:xfrm>
            <a:off x="6812280" y="5751576"/>
            <a:ext cx="594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6D6A0"/>
                </a:solidFill>
              </a:rPr>
              <a:t>PASS</a:t>
            </a:r>
          </a:p>
        </p:txBody>
      </p:sp>
      <p:sp>
        <p:nvSpPr>
          <p:cNvPr id="144" name="Rectangle 143"/>
          <p:cNvSpPr/>
          <p:nvPr/>
        </p:nvSpPr>
        <p:spPr>
          <a:xfrm>
            <a:off x="7452360" y="5660136"/>
            <a:ext cx="685800" cy="521207"/>
          </a:xfrm>
          <a:prstGeom prst="rect">
            <a:avLst/>
          </a:prstGeom>
          <a:solidFill>
            <a:srgbClr val="0A253C"/>
          </a:solidFill>
          <a:ln w="15240">
            <a:solidFill>
              <a:srgbClr val="15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TextBox 144"/>
          <p:cNvSpPr txBox="1"/>
          <p:nvPr/>
        </p:nvSpPr>
        <p:spPr>
          <a:xfrm>
            <a:off x="7498080" y="5751576"/>
            <a:ext cx="594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6D6A0"/>
                </a:solidFill>
              </a:rPr>
              <a:t>PASS</a:t>
            </a:r>
          </a:p>
        </p:txBody>
      </p:sp>
      <p:sp>
        <p:nvSpPr>
          <p:cNvPr id="146" name="Rectangle 145"/>
          <p:cNvSpPr/>
          <p:nvPr/>
        </p:nvSpPr>
        <p:spPr>
          <a:xfrm>
            <a:off x="8138160" y="5660136"/>
            <a:ext cx="685800" cy="521207"/>
          </a:xfrm>
          <a:prstGeom prst="rect">
            <a:avLst/>
          </a:prstGeom>
          <a:solidFill>
            <a:srgbClr val="0A253C"/>
          </a:solidFill>
          <a:ln w="15240">
            <a:solidFill>
              <a:srgbClr val="15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TextBox 146"/>
          <p:cNvSpPr txBox="1"/>
          <p:nvPr/>
        </p:nvSpPr>
        <p:spPr>
          <a:xfrm>
            <a:off x="8183880" y="5751576"/>
            <a:ext cx="594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6D6A0"/>
                </a:solidFill>
              </a:rPr>
              <a:t>PASS</a:t>
            </a:r>
          </a:p>
        </p:txBody>
      </p:sp>
      <p:sp>
        <p:nvSpPr>
          <p:cNvPr id="148" name="Rectangle 147"/>
          <p:cNvSpPr/>
          <p:nvPr/>
        </p:nvSpPr>
        <p:spPr>
          <a:xfrm>
            <a:off x="8823960" y="5660136"/>
            <a:ext cx="594360" cy="521207"/>
          </a:xfrm>
          <a:prstGeom prst="rect">
            <a:avLst/>
          </a:prstGeom>
          <a:solidFill>
            <a:srgbClr val="0A253C"/>
          </a:solidFill>
          <a:ln w="15240">
            <a:solidFill>
              <a:srgbClr val="15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TextBox 148"/>
          <p:cNvSpPr txBox="1"/>
          <p:nvPr/>
        </p:nvSpPr>
        <p:spPr>
          <a:xfrm>
            <a:off x="8869680" y="5751576"/>
            <a:ext cx="502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6D6A0"/>
                </a:solidFill>
              </a:rPr>
              <a:t>✓</a:t>
            </a:r>
          </a:p>
        </p:txBody>
      </p:sp>
      <p:sp>
        <p:nvSpPr>
          <p:cNvPr id="150" name="Rectangle 149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73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TextBox 150"/>
          <p:cNvSpPr txBox="1"/>
          <p:nvPr/>
        </p:nvSpPr>
        <p:spPr>
          <a:xfrm>
            <a:off x="274320" y="6510528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8D8EA"/>
                </a:solidFill>
              </a:rPr>
              <a:t>GyanBrige – AI-Powered Smart Education Platform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73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88952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09728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90E0EF"/>
                </a:solidFill>
              </a:rPr>
              <a:t>Graph of Precision, Recall &amp; F1-Score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65836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A8D8EA"/>
                </a:solidFill>
              </a:rPr>
              <a:t>Performance Comparison of Face Recognition Algorithms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365760" y="1188720"/>
          <a:ext cx="7315200" cy="5303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ectangle 7"/>
          <p:cNvSpPr/>
          <p:nvPr/>
        </p:nvSpPr>
        <p:spPr>
          <a:xfrm>
            <a:off x="7909560" y="1188720"/>
            <a:ext cx="1005840" cy="804672"/>
          </a:xfrm>
          <a:prstGeom prst="rect">
            <a:avLst/>
          </a:prstGeom>
          <a:solidFill>
            <a:srgbClr val="052540"/>
          </a:solidFill>
          <a:ln w="1524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80" y="1389888"/>
            <a:ext cx="9144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C300"/>
                </a:solidFill>
              </a:rPr>
              <a:t>Metric</a:t>
            </a:r>
          </a:p>
        </p:txBody>
      </p:sp>
      <p:sp>
        <p:nvSpPr>
          <p:cNvPr id="10" name="Rectangle 9"/>
          <p:cNvSpPr/>
          <p:nvPr/>
        </p:nvSpPr>
        <p:spPr>
          <a:xfrm>
            <a:off x="8961120" y="1188720"/>
            <a:ext cx="1005840" cy="804672"/>
          </a:xfrm>
          <a:prstGeom prst="rect">
            <a:avLst/>
          </a:prstGeom>
          <a:solidFill>
            <a:srgbClr val="052540"/>
          </a:solidFill>
          <a:ln w="1524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06840" y="1389888"/>
            <a:ext cx="9144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C300"/>
                </a:solidFill>
              </a:rPr>
              <a:t>LBPH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012680" y="1188720"/>
            <a:ext cx="1005840" cy="804672"/>
          </a:xfrm>
          <a:prstGeom prst="rect">
            <a:avLst/>
          </a:prstGeom>
          <a:solidFill>
            <a:srgbClr val="052540"/>
          </a:solidFill>
          <a:ln w="1524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0" y="1389888"/>
            <a:ext cx="9144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C300"/>
                </a:solidFill>
              </a:rPr>
              <a:t>Eigenfaces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1064240" y="1188720"/>
            <a:ext cx="1005840" cy="804672"/>
          </a:xfrm>
          <a:prstGeom prst="rect">
            <a:avLst/>
          </a:prstGeom>
          <a:solidFill>
            <a:srgbClr val="052540"/>
          </a:solidFill>
          <a:ln w="1524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109960" y="1389888"/>
            <a:ext cx="9144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C300"/>
                </a:solidFill>
              </a:rPr>
              <a:t>Fisherfaces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909560" y="2103120"/>
            <a:ext cx="1005840" cy="804672"/>
          </a:xfrm>
          <a:prstGeom prst="rect">
            <a:avLst/>
          </a:prstGeom>
          <a:solidFill>
            <a:srgbClr val="052540"/>
          </a:solidFill>
          <a:ln w="1524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55280" y="2304288"/>
            <a:ext cx="9144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C300"/>
                </a:solidFill>
              </a:rPr>
              <a:t>Precision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961120" y="2103120"/>
            <a:ext cx="1005840" cy="804672"/>
          </a:xfrm>
          <a:prstGeom prst="rect">
            <a:avLst/>
          </a:prstGeom>
          <a:solidFill>
            <a:srgbClr val="07334A"/>
          </a:solidFill>
          <a:ln w="15240">
            <a:solidFill>
              <a:srgbClr val="15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06840" y="2304288"/>
            <a:ext cx="9144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0B4D8"/>
                </a:solidFill>
              </a:rPr>
              <a:t>89.3 %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012680" y="2103120"/>
            <a:ext cx="1005840" cy="804672"/>
          </a:xfrm>
          <a:prstGeom prst="rect">
            <a:avLst/>
          </a:prstGeom>
          <a:solidFill>
            <a:srgbClr val="07334A"/>
          </a:solidFill>
          <a:ln w="15240">
            <a:solidFill>
              <a:srgbClr val="15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58400" y="2304288"/>
            <a:ext cx="9144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6D6A0"/>
                </a:solidFill>
              </a:rPr>
              <a:t>76.2 %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064240" y="2103120"/>
            <a:ext cx="1005840" cy="804672"/>
          </a:xfrm>
          <a:prstGeom prst="rect">
            <a:avLst/>
          </a:prstGeom>
          <a:solidFill>
            <a:srgbClr val="07334A"/>
          </a:solidFill>
          <a:ln w="15240">
            <a:solidFill>
              <a:srgbClr val="15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109960" y="2304288"/>
            <a:ext cx="9144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C300"/>
                </a:solidFill>
              </a:rPr>
              <a:t>84.7 %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909560" y="3017520"/>
            <a:ext cx="1005840" cy="804672"/>
          </a:xfrm>
          <a:prstGeom prst="rect">
            <a:avLst/>
          </a:prstGeom>
          <a:solidFill>
            <a:srgbClr val="052540"/>
          </a:solidFill>
          <a:ln w="1524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955280" y="3218688"/>
            <a:ext cx="9144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C300"/>
                </a:solidFill>
              </a:rPr>
              <a:t>Recall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961120" y="3017520"/>
            <a:ext cx="1005840" cy="804672"/>
          </a:xfrm>
          <a:prstGeom prst="rect">
            <a:avLst/>
          </a:prstGeom>
          <a:solidFill>
            <a:srgbClr val="07334A"/>
          </a:solidFill>
          <a:ln w="15240">
            <a:solidFill>
              <a:srgbClr val="15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006840" y="3218688"/>
            <a:ext cx="9144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0B4D8"/>
                </a:solidFill>
              </a:rPr>
              <a:t>87.1 %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012680" y="3017520"/>
            <a:ext cx="1005840" cy="804672"/>
          </a:xfrm>
          <a:prstGeom prst="rect">
            <a:avLst/>
          </a:prstGeom>
          <a:solidFill>
            <a:srgbClr val="07334A"/>
          </a:solidFill>
          <a:ln w="15240">
            <a:solidFill>
              <a:srgbClr val="15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058400" y="3218688"/>
            <a:ext cx="9144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6D6A0"/>
                </a:solidFill>
              </a:rPr>
              <a:t>73.1 %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1064240" y="3017520"/>
            <a:ext cx="1005840" cy="804672"/>
          </a:xfrm>
          <a:prstGeom prst="rect">
            <a:avLst/>
          </a:prstGeom>
          <a:solidFill>
            <a:srgbClr val="07334A"/>
          </a:solidFill>
          <a:ln w="15240">
            <a:solidFill>
              <a:srgbClr val="15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109960" y="3218688"/>
            <a:ext cx="9144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C300"/>
                </a:solidFill>
              </a:rPr>
              <a:t>81.9 %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909560" y="3931920"/>
            <a:ext cx="1005840" cy="804672"/>
          </a:xfrm>
          <a:prstGeom prst="rect">
            <a:avLst/>
          </a:prstGeom>
          <a:solidFill>
            <a:srgbClr val="052540"/>
          </a:solidFill>
          <a:ln w="1524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955280" y="4133087"/>
            <a:ext cx="9144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C300"/>
                </a:solidFill>
              </a:rPr>
              <a:t>F1-Score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961120" y="3931920"/>
            <a:ext cx="1005840" cy="804672"/>
          </a:xfrm>
          <a:prstGeom prst="rect">
            <a:avLst/>
          </a:prstGeom>
          <a:solidFill>
            <a:srgbClr val="07334A"/>
          </a:solidFill>
          <a:ln w="15240">
            <a:solidFill>
              <a:srgbClr val="15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006840" y="4133087"/>
            <a:ext cx="9144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0B4D8"/>
                </a:solidFill>
              </a:rPr>
              <a:t>88.2 %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0012680" y="3931920"/>
            <a:ext cx="1005840" cy="804672"/>
          </a:xfrm>
          <a:prstGeom prst="rect">
            <a:avLst/>
          </a:prstGeom>
          <a:solidFill>
            <a:srgbClr val="07334A"/>
          </a:solidFill>
          <a:ln w="15240">
            <a:solidFill>
              <a:srgbClr val="15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058400" y="4133087"/>
            <a:ext cx="9144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6D6A0"/>
                </a:solidFill>
              </a:rPr>
              <a:t>74.6 %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1064240" y="3931920"/>
            <a:ext cx="1005840" cy="804672"/>
          </a:xfrm>
          <a:prstGeom prst="rect">
            <a:avLst/>
          </a:prstGeom>
          <a:solidFill>
            <a:srgbClr val="07334A"/>
          </a:solidFill>
          <a:ln w="15240">
            <a:solidFill>
              <a:srgbClr val="15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1109960" y="4133087"/>
            <a:ext cx="9144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C300"/>
                </a:solidFill>
              </a:rPr>
              <a:t>83.3 %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909560" y="4846320"/>
            <a:ext cx="1005840" cy="804672"/>
          </a:xfrm>
          <a:prstGeom prst="rect">
            <a:avLst/>
          </a:prstGeom>
          <a:solidFill>
            <a:srgbClr val="052540"/>
          </a:solidFill>
          <a:ln w="1524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955280" y="5047488"/>
            <a:ext cx="9144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C300"/>
                </a:solidFill>
              </a:rPr>
              <a:t>Accuracy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961120" y="4846320"/>
            <a:ext cx="1005840" cy="804672"/>
          </a:xfrm>
          <a:prstGeom prst="rect">
            <a:avLst/>
          </a:prstGeom>
          <a:solidFill>
            <a:srgbClr val="07334A"/>
          </a:solidFill>
          <a:ln w="15240">
            <a:solidFill>
              <a:srgbClr val="15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006840" y="5047488"/>
            <a:ext cx="9144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0B4D8"/>
                </a:solidFill>
              </a:rPr>
              <a:t>86.2 %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0012680" y="4846320"/>
            <a:ext cx="1005840" cy="804672"/>
          </a:xfrm>
          <a:prstGeom prst="rect">
            <a:avLst/>
          </a:prstGeom>
          <a:solidFill>
            <a:srgbClr val="07334A"/>
          </a:solidFill>
          <a:ln w="15240">
            <a:solidFill>
              <a:srgbClr val="15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058400" y="5047488"/>
            <a:ext cx="9144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6D6A0"/>
                </a:solidFill>
              </a:rPr>
              <a:t>73.1 %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1064240" y="4846320"/>
            <a:ext cx="1005840" cy="804672"/>
          </a:xfrm>
          <a:prstGeom prst="rect">
            <a:avLst/>
          </a:prstGeom>
          <a:solidFill>
            <a:srgbClr val="07334A"/>
          </a:solidFill>
          <a:ln w="15240">
            <a:solidFill>
              <a:srgbClr val="15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1109960" y="5047488"/>
            <a:ext cx="9144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C300"/>
                </a:solidFill>
              </a:rPr>
              <a:t>81.9 %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65760" y="6446520"/>
            <a:ext cx="1188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A8D8EA"/>
                </a:solidFill>
              </a:rPr>
              <a:t>Note: LBPH achieves highest scores across all metrics.
Eigenfaces performance drops significantly under varied lighting &amp; pose.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73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74320" y="6510528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8D8EA"/>
                </a:solidFill>
              </a:rPr>
              <a:t>GyanBrige – AI-Powered Smart Education Platform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73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88952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09728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90E0EF"/>
                </a:solidFill>
              </a:rPr>
              <a:t>Observations &amp; Findings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188720"/>
            <a:ext cx="3749039" cy="4572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79" y="1243584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D1B2A"/>
                </a:solidFill>
              </a:rPr>
              <a:t>Face Recognition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645920"/>
            <a:ext cx="3749039" cy="4846320"/>
          </a:xfrm>
          <a:prstGeom prst="rect">
            <a:avLst/>
          </a:prstGeom>
          <a:solidFill>
            <a:srgbClr val="07334A"/>
          </a:solidFill>
          <a:ln w="1524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783080"/>
            <a:ext cx="347472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• LBPH outperformed Eigenfaces and Fisherfaces in all test conditions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688336"/>
            <a:ext cx="347472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• LBPH is most robust to lighting variation and partial occlusion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593591"/>
            <a:ext cx="347472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• Eigenfaces degrades significantly under low-light conditions (FP rate: 28%)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498848"/>
            <a:ext cx="347472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• Fisherfaces is a good balance – better than Eigenfaces, slightly below LBPH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404104"/>
            <a:ext cx="347472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• Confidence threshold of 70% gave best TP/FP trade-off for LBPH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70248" y="1188720"/>
            <a:ext cx="3749039" cy="45720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61688" y="1243584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D1B2A"/>
                </a:solidFill>
              </a:rPr>
              <a:t>Network Attendance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70248" y="1645920"/>
            <a:ext cx="3749039" cy="4846320"/>
          </a:xfrm>
          <a:prstGeom prst="rect">
            <a:avLst/>
          </a:prstGeom>
          <a:solidFill>
            <a:srgbClr val="07334A"/>
          </a:solidFill>
          <a:ln w="1524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07408" y="1783080"/>
            <a:ext cx="347472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• MAC-based scanning correctly identified 94% of connected students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07408" y="2688336"/>
            <a:ext cx="347472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• Randomized MACs (iOS default) caused ~15% unmatched devices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07408" y="3593591"/>
            <a:ext cx="347472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• ARP broadcast ping improved device discovery by 30%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07408" y="4498848"/>
            <a:ext cx="347472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• OUI lookup correctly identified manufacturer for 89% of devices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07408" y="5404104"/>
            <a:ext cx="347472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• Total scan latency: &lt; 3 seconds for a 30-device classroom network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20456" y="1188720"/>
            <a:ext cx="3749039" cy="457200"/>
          </a:xfrm>
          <a:prstGeom prst="rect">
            <a:avLst/>
          </a:prstGeom>
          <a:solidFill>
            <a:srgbClr val="FFC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11896" y="1243584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D1B2A"/>
                </a:solidFill>
              </a:rPr>
              <a:t>AI Transcription &amp; Notes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20456" y="1645920"/>
            <a:ext cx="3749039" cy="4846320"/>
          </a:xfrm>
          <a:prstGeom prst="rect">
            <a:avLst/>
          </a:prstGeom>
          <a:solidFill>
            <a:srgbClr val="07334A"/>
          </a:solidFill>
          <a:ln w="15240">
            <a:solidFill>
              <a:srgbClr val="FFC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57616" y="1783080"/>
            <a:ext cx="347472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• Whisper achieved 94.2% accuracy on English lecture audio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57616" y="2688336"/>
            <a:ext cx="347472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• Hindi accuracy: 91.7%, Marathi: 88.4% (code-switching handled well)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57616" y="3593591"/>
            <a:ext cx="347472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• GPT-4 generated structured notes in avg. 4.8 seconds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57616" y="4498848"/>
            <a:ext cx="347472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• Ollama (LLaMA3) took 12–18s locally, acceptable for offline use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57616" y="5404104"/>
            <a:ext cx="347472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• Note quality rated 4.2/5 by students in pilot evaluation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73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74320" y="6510528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8D8EA"/>
                </a:solidFill>
              </a:rPr>
              <a:t>GyanBrige – AI-Powered Smart Education Platform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73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88952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09728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90E0EF"/>
                </a:solidFill>
              </a:rPr>
              <a:t>Conclusion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188720"/>
            <a:ext cx="11548872" cy="1097280"/>
          </a:xfrm>
          <a:prstGeom prst="rect">
            <a:avLst/>
          </a:prstGeom>
          <a:solidFill>
            <a:srgbClr val="07334A"/>
          </a:solidFill>
          <a:ln w="1524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261872"/>
            <a:ext cx="112014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FFFFFF"/>
                </a:solidFill>
              </a:rPr>
              <a:t>GyanBrige successfully addresses the gap in educational technology by unifying AI-powered attendance (face recognition &amp; network scan), real-time multilingual transcription, and automated lecture note generation into a single, role-based platform available on both web and mobile.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2423160"/>
            <a:ext cx="411480" cy="124358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8328" y="2862072"/>
            <a:ext cx="37490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D1B2A"/>
                </a:solidFill>
              </a:rPr>
              <a:t>1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2423160"/>
            <a:ext cx="5239512" cy="38404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392" y="2478024"/>
            <a:ext cx="5074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1B2A"/>
                </a:solidFill>
              </a:rPr>
              <a:t>Algorithm Outcome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2807208"/>
            <a:ext cx="5239512" cy="859536"/>
          </a:xfrm>
          <a:prstGeom prst="rect">
            <a:avLst/>
          </a:prstGeom>
          <a:solidFill>
            <a:srgbClr val="07334A"/>
          </a:solidFill>
          <a:ln w="1524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288036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LBPH (86.2%) &gt; Fisherfaces (81.9%) &gt; Eigenfaces (73.1%) in overall face recognition accuracy across all test conditions.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81927" y="2423160"/>
            <a:ext cx="411480" cy="1243584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0215" y="2862072"/>
            <a:ext cx="37490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D1B2A"/>
                </a:solidFill>
              </a:rPr>
              <a:t>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693407" y="2423160"/>
            <a:ext cx="5239512" cy="384048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12279" y="2478024"/>
            <a:ext cx="5074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1B2A"/>
                </a:solidFill>
              </a:rPr>
              <a:t>Attendance Automation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693407" y="2807208"/>
            <a:ext cx="5239512" cy="859536"/>
          </a:xfrm>
          <a:prstGeom prst="rect">
            <a:avLst/>
          </a:prstGeom>
          <a:solidFill>
            <a:srgbClr val="07334A"/>
          </a:solidFill>
          <a:ln w="1524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30567" y="288036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Combined face recognition + network MAC scanning achieves 91%+ automated attendance marking, reducing teacher workload by ~80%.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3813048"/>
            <a:ext cx="411480" cy="1243584"/>
          </a:xfrm>
          <a:prstGeom prst="rect">
            <a:avLst/>
          </a:prstGeom>
          <a:solidFill>
            <a:srgbClr val="FFC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38328" y="4251960"/>
            <a:ext cx="37490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D1B2A"/>
                </a:solidFill>
              </a:rPr>
              <a:t>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" y="3813048"/>
            <a:ext cx="5239512" cy="384048"/>
          </a:xfrm>
          <a:prstGeom prst="rect">
            <a:avLst/>
          </a:prstGeom>
          <a:solidFill>
            <a:srgbClr val="FFC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0392" y="3867911"/>
            <a:ext cx="5074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1B2A"/>
                </a:solidFill>
              </a:rPr>
              <a:t>AI Transcription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1520" y="4197096"/>
            <a:ext cx="5239512" cy="859536"/>
          </a:xfrm>
          <a:prstGeom prst="rect">
            <a:avLst/>
          </a:prstGeom>
          <a:solidFill>
            <a:srgbClr val="07334A"/>
          </a:solidFill>
          <a:ln w="15240">
            <a:solidFill>
              <a:srgbClr val="FFC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8680" y="4270248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Whisper achieves 94% accuracy on English and 89% on Marathi lectures. Students reported 40% reduction in note-taking time.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81927" y="3813048"/>
            <a:ext cx="411480" cy="1243584"/>
          </a:xfrm>
          <a:prstGeom prst="rect">
            <a:avLst/>
          </a:prstGeom>
          <a:solidFill>
            <a:srgbClr val="B58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00215" y="4251960"/>
            <a:ext cx="37490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D1B2A"/>
                </a:solidFill>
              </a:rPr>
              <a:t>4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693407" y="3813048"/>
            <a:ext cx="5239512" cy="384048"/>
          </a:xfrm>
          <a:prstGeom prst="rect">
            <a:avLst/>
          </a:prstGeom>
          <a:solidFill>
            <a:srgbClr val="B58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12279" y="3867911"/>
            <a:ext cx="5074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1B2A"/>
                </a:solidFill>
              </a:rPr>
              <a:t>Platform Impact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693407" y="4197096"/>
            <a:ext cx="5239512" cy="859536"/>
          </a:xfrm>
          <a:prstGeom prst="rect">
            <a:avLst/>
          </a:prstGeom>
          <a:solidFill>
            <a:srgbClr val="07334A"/>
          </a:solidFill>
          <a:ln w="15240">
            <a:solidFill>
              <a:srgbClr val="B58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30567" y="4270248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Pilot study with 45 students showed 87% satisfaction rate. Teachers saved avg. 25 mins/lecture on manual processes.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0040" y="5202936"/>
            <a:ext cx="411480" cy="1243584"/>
          </a:xfrm>
          <a:prstGeom prst="rect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38328" y="5641848"/>
            <a:ext cx="37490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D1B2A"/>
                </a:solidFill>
              </a:rPr>
              <a:t>5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31520" y="5202936"/>
            <a:ext cx="5239512" cy="384048"/>
          </a:xfrm>
          <a:prstGeom prst="rect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50392" y="5257799"/>
            <a:ext cx="5074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1B2A"/>
                </a:solidFill>
              </a:rPr>
              <a:t>Technical Achievement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5586983"/>
            <a:ext cx="5239512" cy="859536"/>
          </a:xfrm>
          <a:prstGeom prst="rect">
            <a:avLst/>
          </a:prstGeom>
          <a:solidFill>
            <a:srgbClr val="07334A"/>
          </a:solidFill>
          <a:ln w="15240">
            <a:solidFill>
              <a:srgbClr val="FF9F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68680" y="5660136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Successfully integrated 3 AI backends (OpenAI, Ollama, local whisper.cpp) with seamless admin toggle – ensuring offline capability.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281927" y="5202936"/>
            <a:ext cx="411480" cy="1243584"/>
          </a:xfrm>
          <a:prstGeom prst="rect">
            <a:avLst/>
          </a:prstGeom>
          <a:solidFill>
            <a:srgbClr val="EF4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300215" y="5641848"/>
            <a:ext cx="37490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D1B2A"/>
                </a:solidFill>
              </a:rPr>
              <a:t>6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693407" y="5202936"/>
            <a:ext cx="5239512" cy="384048"/>
          </a:xfrm>
          <a:prstGeom prst="rect">
            <a:avLst/>
          </a:prstGeom>
          <a:solidFill>
            <a:srgbClr val="EF4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812279" y="5257799"/>
            <a:ext cx="5074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1B2A"/>
                </a:solidFill>
              </a:rPr>
              <a:t>Research Contribution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693407" y="5586983"/>
            <a:ext cx="5239512" cy="859536"/>
          </a:xfrm>
          <a:prstGeom prst="rect">
            <a:avLst/>
          </a:prstGeom>
          <a:solidFill>
            <a:srgbClr val="07334A"/>
          </a:solidFill>
          <a:ln w="15240">
            <a:solidFill>
              <a:srgbClr val="EF47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830567" y="5660136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Provides empirical comparison of LBPH, Eigenfaces and Fisherfaces in a real-world classroom deployment scenario.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73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74320" y="6510528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8D8EA"/>
                </a:solidFill>
              </a:rPr>
              <a:t>GyanBrige – AI-Powered Smart Education Platform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73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88952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09728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90E0EF"/>
                </a:solidFill>
              </a:rPr>
              <a:t>Future 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65836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A8D8EA"/>
                </a:solidFill>
              </a:rPr>
              <a:t>Roadmap for Enhancement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188720"/>
            <a:ext cx="384048" cy="124358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38328" y="1627632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1B2A"/>
                </a:solidFill>
              </a:rPr>
              <a:t>F1</a:t>
            </a:r>
          </a:p>
        </p:txBody>
      </p:sp>
      <p:sp>
        <p:nvSpPr>
          <p:cNvPr id="9" name="Rectangle 8"/>
          <p:cNvSpPr/>
          <p:nvPr/>
        </p:nvSpPr>
        <p:spPr>
          <a:xfrm>
            <a:off x="704088" y="1188720"/>
            <a:ext cx="5248656" cy="40233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252728"/>
            <a:ext cx="5074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1B2A"/>
                </a:solidFill>
              </a:rPr>
              <a:t>Deep Learning Face Recognition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04088" y="1591056"/>
            <a:ext cx="5248656" cy="841248"/>
          </a:xfrm>
          <a:prstGeom prst="rect">
            <a:avLst/>
          </a:prstGeom>
          <a:solidFill>
            <a:srgbClr val="07334A"/>
          </a:solidFill>
          <a:ln w="1524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1664208"/>
            <a:ext cx="5047488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Replace OpenCV classifiers with CNN/FaceNet/ArcFace models.
Target: &gt; 97% accuracy, liveness detection to prevent spoofing.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63640" y="1188720"/>
            <a:ext cx="384048" cy="1243584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81927" y="1627632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1B2A"/>
                </a:solidFill>
              </a:rPr>
              <a:t>F2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47688" y="1188720"/>
            <a:ext cx="5248656" cy="402336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66559" y="1252728"/>
            <a:ext cx="5074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1B2A"/>
                </a:solidFill>
              </a:rPr>
              <a:t>Real-Time Live Transcription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647688" y="1591056"/>
            <a:ext cx="5248656" cy="841248"/>
          </a:xfrm>
          <a:prstGeom prst="rect">
            <a:avLst/>
          </a:prstGeom>
          <a:solidFill>
            <a:srgbClr val="07334A"/>
          </a:solidFill>
          <a:ln w="1524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66559" y="1664208"/>
            <a:ext cx="5047488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Implement WebSocket-based streaming transcription during live lectures instead of post-lecture upload processing.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2578608"/>
            <a:ext cx="384048" cy="1243584"/>
          </a:xfrm>
          <a:prstGeom prst="rect">
            <a:avLst/>
          </a:prstGeom>
          <a:solidFill>
            <a:srgbClr val="FFC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38328" y="301752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1B2A"/>
                </a:solidFill>
              </a:rPr>
              <a:t>F3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04088" y="2578608"/>
            <a:ext cx="5248656" cy="402336"/>
          </a:xfrm>
          <a:prstGeom prst="rect">
            <a:avLst/>
          </a:prstGeom>
          <a:solidFill>
            <a:srgbClr val="FFC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2642616"/>
            <a:ext cx="5074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1B2A"/>
                </a:solidFill>
              </a:rPr>
              <a:t>Personalized Learning Paths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04088" y="2980944"/>
            <a:ext cx="5248656" cy="841248"/>
          </a:xfrm>
          <a:prstGeom prst="rect">
            <a:avLst/>
          </a:prstGeom>
          <a:solidFill>
            <a:srgbClr val="07334A"/>
          </a:solidFill>
          <a:ln w="15240">
            <a:solidFill>
              <a:srgbClr val="FFC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3054096"/>
            <a:ext cx="5047488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Use student performance data to recommend videos, notes &amp; practice quizzes. Integrate spaced repetition algorithms.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63640" y="2578608"/>
            <a:ext cx="384048" cy="1243584"/>
          </a:xfrm>
          <a:prstGeom prst="rect">
            <a:avLst/>
          </a:prstGeom>
          <a:solidFill>
            <a:srgbClr val="B58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81927" y="301752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1B2A"/>
                </a:solidFill>
              </a:rPr>
              <a:t>F4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647688" y="2578608"/>
            <a:ext cx="5248656" cy="402336"/>
          </a:xfrm>
          <a:prstGeom prst="rect">
            <a:avLst/>
          </a:prstGeom>
          <a:solidFill>
            <a:srgbClr val="B58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66559" y="2642616"/>
            <a:ext cx="5074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1B2A"/>
                </a:solidFill>
              </a:rPr>
              <a:t>RAG-Based Q&amp;A Chatbot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647688" y="2980944"/>
            <a:ext cx="5248656" cy="841248"/>
          </a:xfrm>
          <a:prstGeom prst="rect">
            <a:avLst/>
          </a:prstGeom>
          <a:solidFill>
            <a:srgbClr val="07334A"/>
          </a:solidFill>
          <a:ln w="15240">
            <a:solidFill>
              <a:srgbClr val="B58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766559" y="3054096"/>
            <a:ext cx="5047488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Add a retrieval-augmented generation (RAG) chatbot that answers student questions from lecture transcripts using embeddings.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3968496"/>
            <a:ext cx="384048" cy="1243584"/>
          </a:xfrm>
          <a:prstGeom prst="rect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38328" y="4407408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1B2A"/>
                </a:solidFill>
              </a:rPr>
              <a:t>F5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04088" y="3968496"/>
            <a:ext cx="5248656" cy="402336"/>
          </a:xfrm>
          <a:prstGeom prst="rect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2960" y="4032504"/>
            <a:ext cx="5074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1B2A"/>
                </a:solidFill>
              </a:rPr>
              <a:t>Plagiarism &amp; Cheating Detection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04088" y="4370832"/>
            <a:ext cx="5248656" cy="841248"/>
          </a:xfrm>
          <a:prstGeom prst="rect">
            <a:avLst/>
          </a:prstGeom>
          <a:solidFill>
            <a:srgbClr val="07334A"/>
          </a:solidFill>
          <a:ln w="15240">
            <a:solidFill>
              <a:srgbClr val="FF9F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22960" y="4443983"/>
            <a:ext cx="5047488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Continuous face verification during exams. Flag when student leaves frame or an unknown face appears.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263640" y="3968496"/>
            <a:ext cx="384048" cy="1243584"/>
          </a:xfrm>
          <a:prstGeom prst="rect">
            <a:avLst/>
          </a:prstGeom>
          <a:solidFill>
            <a:srgbClr val="EF4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281927" y="4407408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1B2A"/>
                </a:solidFill>
              </a:rPr>
              <a:t>F6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647688" y="3968496"/>
            <a:ext cx="5248656" cy="402336"/>
          </a:xfrm>
          <a:prstGeom prst="rect">
            <a:avLst/>
          </a:prstGeom>
          <a:solidFill>
            <a:srgbClr val="EF4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766559" y="4032504"/>
            <a:ext cx="5074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1B2A"/>
                </a:solidFill>
              </a:rPr>
              <a:t>Multi-Institution Cloud Deployment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647688" y="4370832"/>
            <a:ext cx="5248656" cy="841248"/>
          </a:xfrm>
          <a:prstGeom prst="rect">
            <a:avLst/>
          </a:prstGeom>
          <a:solidFill>
            <a:srgbClr val="07334A"/>
          </a:solidFill>
          <a:ln w="15240">
            <a:solidFill>
              <a:srgbClr val="EF47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766559" y="4443983"/>
            <a:ext cx="5047488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Scale GyanBrige to multi-tenant SaaS with PostgreSQL, Redis job queues, S3 storage &amp; Docker containerization.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20040" y="5358384"/>
            <a:ext cx="384048" cy="1243584"/>
          </a:xfrm>
          <a:prstGeom prst="rect">
            <a:avLst/>
          </a:prstGeom>
          <a:solidFill>
            <a:srgbClr val="90E0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38328" y="5797296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1B2A"/>
                </a:solidFill>
              </a:rPr>
              <a:t>F7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04088" y="5358384"/>
            <a:ext cx="5248656" cy="402336"/>
          </a:xfrm>
          <a:prstGeom prst="rect">
            <a:avLst/>
          </a:prstGeom>
          <a:solidFill>
            <a:srgbClr val="90E0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22960" y="5422392"/>
            <a:ext cx="5074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1B2A"/>
                </a:solidFill>
              </a:rPr>
              <a:t>Multilingual Note Translation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04088" y="5760720"/>
            <a:ext cx="5248656" cy="841248"/>
          </a:xfrm>
          <a:prstGeom prst="rect">
            <a:avLst/>
          </a:prstGeom>
          <a:solidFill>
            <a:srgbClr val="07334A"/>
          </a:solidFill>
          <a:ln w="15240">
            <a:solidFill>
              <a:srgbClr val="90E0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22960" y="5833872"/>
            <a:ext cx="5047488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Auto-translate generated notes from English to Hindi/Marathi for improved regional accessibility.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263640" y="5358384"/>
            <a:ext cx="384048" cy="1243584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281927" y="5797296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1B2A"/>
                </a:solidFill>
              </a:rPr>
              <a:t>F8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647688" y="5358384"/>
            <a:ext cx="5248656" cy="402336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766559" y="5422392"/>
            <a:ext cx="5074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1B2A"/>
                </a:solidFill>
              </a:rPr>
              <a:t>Analytics &amp; Parent Portal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647688" y="5760720"/>
            <a:ext cx="5248656" cy="841248"/>
          </a:xfrm>
          <a:prstGeom prst="rect">
            <a:avLst/>
          </a:prstGeom>
          <a:solidFill>
            <a:srgbClr val="07334A"/>
          </a:solidFill>
          <a:ln w="1524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766559" y="5833872"/>
            <a:ext cx="5047488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Detailed attendance analytics, learning progress reports, and a parent-facing portal for student monitoring.</a:t>
            </a:r>
          </a:p>
        </p:txBody>
      </p:sp>
      <p:sp>
        <p:nvSpPr>
          <p:cNvPr id="55" name="Rectangle 54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73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74320" y="6510528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8D8EA"/>
                </a:solidFill>
              </a:rPr>
              <a:t>GyanBrige – AI-Powered Smart Education Platform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73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88952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09728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90E0EF"/>
                </a:solidFill>
              </a:rPr>
              <a:t>Papers Published / Referenced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65836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A8D8EA"/>
                </a:solidFill>
              </a:rPr>
              <a:t>Academic Contributions &amp; Citations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188720"/>
            <a:ext cx="411480" cy="60350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1307592"/>
            <a:ext cx="411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D1B2A"/>
                </a:solidFill>
              </a:rPr>
              <a:t>[1]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1188720"/>
            <a:ext cx="11137392" cy="603504"/>
          </a:xfrm>
          <a:prstGeom prst="rect">
            <a:avLst/>
          </a:prstGeom>
          <a:solidFill>
            <a:srgbClr val="07334A"/>
          </a:solidFill>
          <a:ln w="15240">
            <a:solidFill>
              <a:srgbClr val="15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1234440"/>
            <a:ext cx="108082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00B4D8"/>
                </a:solidFill>
              </a:rPr>
              <a:t>Turk, M. &amp; Pentland, A. (1991)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1481328"/>
            <a:ext cx="108082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CCDDEE"/>
                </a:solidFill>
              </a:rPr>
              <a:t>Eigenfaces for Recognition.  Journal of Cognitive Neuroscience, 3(1), 71–86.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1879092"/>
            <a:ext cx="411480" cy="603504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" y="1997964"/>
            <a:ext cx="411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D1B2A"/>
                </a:solidFill>
              </a:rPr>
              <a:t>[2]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1879092"/>
            <a:ext cx="11137392" cy="603504"/>
          </a:xfrm>
          <a:prstGeom prst="rect">
            <a:avLst/>
          </a:prstGeom>
          <a:solidFill>
            <a:srgbClr val="07334A"/>
          </a:solidFill>
          <a:ln w="15240">
            <a:solidFill>
              <a:srgbClr val="15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1924812"/>
            <a:ext cx="108082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06D6A0"/>
                </a:solidFill>
              </a:rPr>
              <a:t>Belhumeur, P., Hespanha, J., &amp; Kriegman, D. (1997)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2171700"/>
            <a:ext cx="108082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CCDDEE"/>
                </a:solidFill>
              </a:rPr>
              <a:t>Eigenfaces vs. Fisherfaces: Recognition using class specific linear projection.  IEEE TPAMI, 19(7), 711–720.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2569464"/>
            <a:ext cx="411480" cy="603504"/>
          </a:xfrm>
          <a:prstGeom prst="rect">
            <a:avLst/>
          </a:prstGeom>
          <a:solidFill>
            <a:srgbClr val="FFC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0040" y="2688336"/>
            <a:ext cx="411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D1B2A"/>
                </a:solidFill>
              </a:rPr>
              <a:t>[3]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2569464"/>
            <a:ext cx="11137392" cy="603504"/>
          </a:xfrm>
          <a:prstGeom prst="rect">
            <a:avLst/>
          </a:prstGeom>
          <a:solidFill>
            <a:srgbClr val="07334A"/>
          </a:solidFill>
          <a:ln w="15240">
            <a:solidFill>
              <a:srgbClr val="15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6112" y="2615184"/>
            <a:ext cx="108082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C300"/>
                </a:solidFill>
              </a:rPr>
              <a:t>Ahonen, T., Hadid, A., &amp; Pietikäinen, M. (2006)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6112" y="2862072"/>
            <a:ext cx="108082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CCDDEE"/>
                </a:solidFill>
              </a:rPr>
              <a:t>Face Description with Local Binary Patterns: Application to Face Recognition.  IEEE TPAMI, 28(12), 2037–2041.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3259836"/>
            <a:ext cx="411480" cy="603504"/>
          </a:xfrm>
          <a:prstGeom prst="rect">
            <a:avLst/>
          </a:prstGeom>
          <a:solidFill>
            <a:srgbClr val="B58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20040" y="3378708"/>
            <a:ext cx="411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D1B2A"/>
                </a:solidFill>
              </a:rPr>
              <a:t>[4]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1520" y="3259836"/>
            <a:ext cx="11137392" cy="603504"/>
          </a:xfrm>
          <a:prstGeom prst="rect">
            <a:avLst/>
          </a:prstGeom>
          <a:solidFill>
            <a:srgbClr val="07334A"/>
          </a:solidFill>
          <a:ln w="15240">
            <a:solidFill>
              <a:srgbClr val="15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96112" y="3305556"/>
            <a:ext cx="108082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B583FF"/>
                </a:solidFill>
              </a:rPr>
              <a:t>Radford, A. et al. (OpenAI, 2022)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6112" y="3552444"/>
            <a:ext cx="108082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CCDDEE"/>
                </a:solidFill>
              </a:rPr>
              <a:t>Robust Speech Recognition via Large-Scale Weak Supervision (Whisper).  arXiv:2212.04356.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0040" y="3950208"/>
            <a:ext cx="411480" cy="603504"/>
          </a:xfrm>
          <a:prstGeom prst="rect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20040" y="4069080"/>
            <a:ext cx="411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D1B2A"/>
                </a:solidFill>
              </a:rPr>
              <a:t>[5]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1520" y="3950208"/>
            <a:ext cx="11137392" cy="603504"/>
          </a:xfrm>
          <a:prstGeom prst="rect">
            <a:avLst/>
          </a:prstGeom>
          <a:solidFill>
            <a:srgbClr val="07334A"/>
          </a:solidFill>
          <a:ln w="15240">
            <a:solidFill>
              <a:srgbClr val="15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96112" y="3995928"/>
            <a:ext cx="108082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9F1C"/>
                </a:solidFill>
              </a:rPr>
              <a:t>Brown, T. et al. (OpenAI, 2020)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96112" y="4242816"/>
            <a:ext cx="108082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CCDDEE"/>
                </a:solidFill>
              </a:rPr>
              <a:t>Language Models are Few-Shot Learners (GPT-3).  NeurIPS 2020.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0040" y="4640580"/>
            <a:ext cx="411480" cy="603504"/>
          </a:xfrm>
          <a:prstGeom prst="rect">
            <a:avLst/>
          </a:prstGeom>
          <a:solidFill>
            <a:srgbClr val="EF4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20040" y="4759452"/>
            <a:ext cx="411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D1B2A"/>
                </a:solidFill>
              </a:rPr>
              <a:t>[6]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31520" y="4640580"/>
            <a:ext cx="11137392" cy="603504"/>
          </a:xfrm>
          <a:prstGeom prst="rect">
            <a:avLst/>
          </a:prstGeom>
          <a:solidFill>
            <a:srgbClr val="07334A"/>
          </a:solidFill>
          <a:ln w="15240">
            <a:solidFill>
              <a:srgbClr val="15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96112" y="4686300"/>
            <a:ext cx="108082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EF476F"/>
                </a:solidFill>
              </a:rPr>
              <a:t>Touvron, H. et al. (Meta, 2023)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96112" y="4933188"/>
            <a:ext cx="108082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CCDDEE"/>
                </a:solidFill>
              </a:rPr>
              <a:t>LLaMA: Open and Efficient Foundation Language Models.  arXiv:2302.13971.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20040" y="5330952"/>
            <a:ext cx="411480" cy="603504"/>
          </a:xfrm>
          <a:prstGeom prst="rect">
            <a:avLst/>
          </a:prstGeom>
          <a:solidFill>
            <a:srgbClr val="90E0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20040" y="5449824"/>
            <a:ext cx="411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D1B2A"/>
                </a:solidFill>
              </a:rPr>
              <a:t>[7]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31520" y="5330952"/>
            <a:ext cx="11137392" cy="603504"/>
          </a:xfrm>
          <a:prstGeom prst="rect">
            <a:avLst/>
          </a:prstGeom>
          <a:solidFill>
            <a:srgbClr val="07334A"/>
          </a:solidFill>
          <a:ln w="15240">
            <a:solidFill>
              <a:srgbClr val="15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96112" y="5376672"/>
            <a:ext cx="108082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90E0EF"/>
                </a:solidFill>
              </a:rPr>
              <a:t>OpenCV Documentation (2024)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96112" y="5623560"/>
            <a:ext cx="108082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CCDDEE"/>
                </a:solidFill>
              </a:rPr>
              <a:t>Face Recognition using OpenCV – LBPH, Eigenfaces, Fisherfaces.  opencv.org/releases/ (accessed May 2025).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20040" y="6021324"/>
            <a:ext cx="411480" cy="603504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20040" y="6140196"/>
            <a:ext cx="411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D1B2A"/>
                </a:solidFill>
              </a:rPr>
              <a:t>[8]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31520" y="6021324"/>
            <a:ext cx="11137392" cy="603504"/>
          </a:xfrm>
          <a:prstGeom prst="rect">
            <a:avLst/>
          </a:prstGeom>
          <a:solidFill>
            <a:srgbClr val="07334A"/>
          </a:solidFill>
          <a:ln w="15240">
            <a:solidFill>
              <a:srgbClr val="15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96112" y="6067044"/>
            <a:ext cx="108082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06D6A0"/>
                </a:solidFill>
              </a:rPr>
              <a:t>Ishan Kulkarni et al. (2024–25)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96112" y="6313932"/>
            <a:ext cx="108082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CCDDEE"/>
                </a:solidFill>
              </a:rPr>
              <a:t>GyanBrige: An AI-Powered Unified Smart Education Platform.  Under review – National Conference on AI in Education 2025.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73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74320" y="6510528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8D8EA"/>
                </a:solidFill>
              </a:rPr>
              <a:t>GyanBrige – AI-Powered Smart Education Platform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73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88952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09728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90E0EF"/>
                </a:solidFill>
              </a:rPr>
              <a:t>References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65836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A8D8EA"/>
                </a:solidFill>
              </a:rPr>
              <a:t>Bibliography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188720"/>
            <a:ext cx="11548872" cy="402336"/>
          </a:xfrm>
          <a:prstGeom prst="rect">
            <a:avLst/>
          </a:prstGeom>
          <a:solidFill>
            <a:srgbClr val="07334A"/>
          </a:solidFill>
          <a:ln w="15240">
            <a:solidFill>
              <a:srgbClr val="15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1243584"/>
            <a:ext cx="112288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EE"/>
                </a:solidFill>
              </a:rPr>
              <a:t>[1]  M. Turk and A. Pentland, 'Eigenfaces for Recognition,' J. Cognitive Neuroscience, vol. 3, no. 1, pp. 71–86, 1991.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636776"/>
            <a:ext cx="11548872" cy="402336"/>
          </a:xfrm>
          <a:prstGeom prst="rect">
            <a:avLst/>
          </a:prstGeom>
          <a:solidFill>
            <a:srgbClr val="0D1B2A"/>
          </a:solidFill>
          <a:ln w="15240">
            <a:solidFill>
              <a:srgbClr val="15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488" y="1691640"/>
            <a:ext cx="112288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EE"/>
                </a:solidFill>
              </a:rPr>
              <a:t>[2]  P. N. Belhumeur, J. P. Hespanha, and D. J. Kriegman, 'Eigenfaces vs. Fisherfaces: Recognition Using Class Specific Linear Projection,' IEEE Trans. Pattern Anal. Mach. Intell., vol. 19, no. 7, pp. 711–720, 1997.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2084832"/>
            <a:ext cx="11548872" cy="402336"/>
          </a:xfrm>
          <a:prstGeom prst="rect">
            <a:avLst/>
          </a:prstGeom>
          <a:solidFill>
            <a:srgbClr val="07334A"/>
          </a:solidFill>
          <a:ln w="15240">
            <a:solidFill>
              <a:srgbClr val="15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" y="2139696"/>
            <a:ext cx="112288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EE"/>
                </a:solidFill>
              </a:rPr>
              <a:t>[3]  T. Ahonen, A. Hadid, and M. Pietikäinen, 'Face Description with Local Binary Patterns: Application to Face Recognition,' IEEE TPAMI, vol. 28, no. 12, pp. 2037–2041, 2006.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2532888"/>
            <a:ext cx="11548872" cy="402336"/>
          </a:xfrm>
          <a:prstGeom prst="rect">
            <a:avLst/>
          </a:prstGeom>
          <a:solidFill>
            <a:srgbClr val="0D1B2A"/>
          </a:solidFill>
          <a:ln w="15240">
            <a:solidFill>
              <a:srgbClr val="15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5488" y="2587752"/>
            <a:ext cx="112288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EE"/>
                </a:solidFill>
              </a:rPr>
              <a:t>[4]  A. Radford et al., 'Robust Speech Recognition via Large-Scale Weak Supervision,' arXiv preprint arXiv:2212.04356, 2022. [OpenAI Whisper]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2980944"/>
            <a:ext cx="11548872" cy="402336"/>
          </a:xfrm>
          <a:prstGeom prst="rect">
            <a:avLst/>
          </a:prstGeom>
          <a:solidFill>
            <a:srgbClr val="07334A"/>
          </a:solidFill>
          <a:ln w="15240">
            <a:solidFill>
              <a:srgbClr val="15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5488" y="3035808"/>
            <a:ext cx="112288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EE"/>
                </a:solidFill>
              </a:rPr>
              <a:t>[5]  T. Brown et al., 'Language Models are Few-Shot Learners,' Advances in NeurIPS, vol. 33, pp. 1877–1901, 2020. [GPT-3]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3429000"/>
            <a:ext cx="11548872" cy="402336"/>
          </a:xfrm>
          <a:prstGeom prst="rect">
            <a:avLst/>
          </a:prstGeom>
          <a:solidFill>
            <a:srgbClr val="0D1B2A"/>
          </a:solidFill>
          <a:ln w="15240">
            <a:solidFill>
              <a:srgbClr val="15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5488" y="3483864"/>
            <a:ext cx="112288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EE"/>
                </a:solidFill>
              </a:rPr>
              <a:t>[6]  H. Touvron et al., 'LLaMA: Open and Efficient Foundation Language Models,' arXiv preprint arXiv:2302.13971, 2023.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3877056"/>
            <a:ext cx="11548872" cy="402336"/>
          </a:xfrm>
          <a:prstGeom prst="rect">
            <a:avLst/>
          </a:prstGeom>
          <a:solidFill>
            <a:srgbClr val="07334A"/>
          </a:solidFill>
          <a:ln w="15240">
            <a:solidFill>
              <a:srgbClr val="15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5488" y="3931920"/>
            <a:ext cx="112288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EE"/>
                </a:solidFill>
              </a:rPr>
              <a:t>[7]  OpenCV Documentation, 'Face Recognition with OpenCV,' https://docs.opencv.org, accessed May 2025.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4325112"/>
            <a:ext cx="11548872" cy="402336"/>
          </a:xfrm>
          <a:prstGeom prst="rect">
            <a:avLst/>
          </a:prstGeom>
          <a:solidFill>
            <a:srgbClr val="0D1B2A"/>
          </a:solidFill>
          <a:ln w="15240">
            <a:solidFill>
              <a:srgbClr val="15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75488" y="4379975"/>
            <a:ext cx="112288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EE"/>
                </a:solidFill>
              </a:rPr>
              <a:t>[8]  Expo Documentation, 'Expo SDK 54 – React Native Framework,' https://docs.expo.dev, accessed May 2025.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4773168"/>
            <a:ext cx="11548872" cy="402336"/>
          </a:xfrm>
          <a:prstGeom prst="rect">
            <a:avLst/>
          </a:prstGeom>
          <a:solidFill>
            <a:srgbClr val="07334A"/>
          </a:solidFill>
          <a:ln w="15240">
            <a:solidFill>
              <a:srgbClr val="15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5488" y="4828031"/>
            <a:ext cx="112288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EE"/>
                </a:solidFill>
              </a:rPr>
              <a:t>[9]  Next.js Documentation, 'Next.js 16 App Router,' https://nextjs.org/docs, accessed May 2025.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" y="5221224"/>
            <a:ext cx="11548872" cy="402336"/>
          </a:xfrm>
          <a:prstGeom prst="rect">
            <a:avLst/>
          </a:prstGeom>
          <a:solidFill>
            <a:srgbClr val="0D1B2A"/>
          </a:solidFill>
          <a:ln w="15240">
            <a:solidFill>
              <a:srgbClr val="15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75488" y="5276088"/>
            <a:ext cx="112288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EE"/>
                </a:solidFill>
              </a:rPr>
              <a:t>[10] OpenAI, 'Whisper API Reference &amp; GPT-4 Documentation,' https://platform.openai.com/docs, accessed May 2025.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0040" y="5669280"/>
            <a:ext cx="11548872" cy="402336"/>
          </a:xfrm>
          <a:prstGeom prst="rect">
            <a:avLst/>
          </a:prstGeom>
          <a:solidFill>
            <a:srgbClr val="07334A"/>
          </a:solidFill>
          <a:ln w="15240">
            <a:solidFill>
              <a:srgbClr val="15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75488" y="5724144"/>
            <a:ext cx="112288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EE"/>
                </a:solidFill>
              </a:rPr>
              <a:t>[11] Ollama Documentation, 'Run LLMs Locally,' https://ollama.ai, accessed May 2025.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" y="6117336"/>
            <a:ext cx="11548872" cy="402336"/>
          </a:xfrm>
          <a:prstGeom prst="rect">
            <a:avLst/>
          </a:prstGeom>
          <a:solidFill>
            <a:srgbClr val="0D1B2A"/>
          </a:solidFill>
          <a:ln w="15240">
            <a:solidFill>
              <a:srgbClr val="15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75488" y="6172199"/>
            <a:ext cx="112288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C300"/>
                </a:solidFill>
              </a:rPr>
              <a:t>[12] I. Kulkarni et al., 'GyanBrige: AI-Powered Smart Education Platform,' under review, 2025.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73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74320" y="6510528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8D8EA"/>
                </a:solidFill>
              </a:rPr>
              <a:t>GyanBrige – AI-Powered Smart Education Platform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64592" y="0"/>
            <a:ext cx="12024360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812280"/>
            <a:ext cx="12188952" cy="45720"/>
          </a:xfrm>
          <a:prstGeom prst="rect">
            <a:avLst/>
          </a:prstGeom>
          <a:solidFill>
            <a:srgbClr val="90E0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112745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 i="0">
                <a:solidFill>
                  <a:srgbClr val="00B4D8"/>
                </a:solidFill>
              </a:rPr>
              <a:t>Thank You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0" y="3200400"/>
            <a:ext cx="5788152" cy="54864"/>
          </a:xfrm>
          <a:prstGeom prst="rect">
            <a:avLst/>
          </a:prstGeom>
          <a:solidFill>
            <a:srgbClr val="FFC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3383280"/>
            <a:ext cx="112745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1">
                <a:solidFill>
                  <a:srgbClr val="FFFFFF"/>
                </a:solidFill>
              </a:rPr>
              <a:t>GyanBrige – Bridging Knowledge with Artificial Intelligence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14800"/>
            <a:ext cx="112745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90E0EF"/>
                </a:solidFill>
              </a:rPr>
              <a:t>Ishan Kulkarni  |  ishan@urbanweb.host  |  GitHub: IshanKulkarni02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86000" y="4846320"/>
            <a:ext cx="7616952" cy="822960"/>
          </a:xfrm>
          <a:prstGeom prst="rect">
            <a:avLst/>
          </a:prstGeom>
          <a:solidFill>
            <a:srgbClr val="07334A"/>
          </a:solidFill>
          <a:ln w="1524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286000" y="4919472"/>
            <a:ext cx="76169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C300"/>
                </a:solidFill>
              </a:rPr>
              <a:t>Questions &amp; Discussions Welcome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